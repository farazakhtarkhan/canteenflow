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6.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9440134-1b46-4bfc-6b8a-94a0029de4ba}">
          <p14:sldIdLst>
            <p14:sldId id="256"/>
            <p14:sldId id="257"/>
            <p14:sldId id="258"/>
          </p14:sldIdLst>
        </p14:section>
        <p14:section name="Background" id="{a7da6859-cf5f-7013-2edc-fdb01a07211c}">
          <p14:sldIdLst>
            <p14:sldId id="259"/>
            <p14:sldId id="260"/>
          </p14:sldIdLst>
        </p14:section>
        <p14:section name="Method" id="{de5d66de-fb2d-6439-954c-1a27532f990c}">
          <p14:sldIdLst>
            <p14:sldId id="261"/>
            <p14:sldId id="262"/>
          </p14:sldIdLst>
        </p14:section>
        <p14:section name="Results" id="{19d492f4-ae04-e5f9-a84d-6ef37e50427e}">
          <p14:sldIdLst>
            <p14:sldId id="263"/>
            <p14:sldId id="264"/>
            <p14:sldId id="265"/>
            <p14:sldId id="266"/>
            <p14:sldId id="267"/>
            <p14:sldId id="268"/>
          </p14:sldIdLst>
        </p14:section>
        <p14:section name="Prediction" id="{0e0629b6-fd9c-2069-ec24-ef9cb418de62}">
          <p14:sldIdLst>
            <p14:sldId id="269"/>
            <p14:sldId id="270"/>
            <p14:sldId id="271"/>
          </p14:sldIdLst>
        </p14:section>
        <p14:section name="Comparison and conclusion" id="{f77cedbd-69b0-22c6-718b-df8b1b913c69}">
          <p14:sldIdLst>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arrivals per slot</c:v>
                </c:pt>
              </c:strCache>
            </c:strRef>
          </c:tx>
          <c:spPr>
            <a:solidFill>
              <a:srgbClr val="00868B"/>
            </a:solidFill>
            <a:effectLst/>
          </c:spPr>
          <c:invertIfNegative val="0"/>
          <c:dLbls>
            <c:numFmt formatCode="0.0" sourceLinked="0"/>
            <c:txPr>
              <a:bodyPr/>
              <a:lstStyle/>
              <a:p>
                <a:pPr>
                  <a:defRPr b="0" i="0" strike="noStrike" sz="1000" u="none">
                    <a:solidFill>
                      <a:srgbClr val="1B2A4A"/>
                    </a:solidFill>
                    <a:latin typeface="+mn-lt"/>
                  </a:defRPr>
                </a:pPr>
              </a:p>
            </c:txPr>
            <c:dLblPos val="outEnd"/>
            <c:showLegendKey val="0"/>
            <c:showVal val="1"/>
            <c:showCatName val="0"/>
            <c:showSerName val="0"/>
            <c:showPercent val="0"/>
            <c:showBubbleSize val="0"/>
            <c:showLeaderLines val="0"/>
          </c:dLbls>
          <c:cat>
            <c:multiLvlStrRef>
              <c:f>Sheet1!$A$2:$A$9</c:f>
              <c:multiLvlStrCache>
                <c:ptCount val="8"/>
                <c:lvl>
                  <c:pt idx="0">
                    <c:v>12:30</c:v>
                  </c:pt>
                  <c:pt idx="1">
                    <c:v>12:45</c:v>
                  </c:pt>
                  <c:pt idx="2">
                    <c:v>13:00</c:v>
                  </c:pt>
                  <c:pt idx="3">
                    <c:v>13:15</c:v>
                  </c:pt>
                  <c:pt idx="4">
                    <c:v>13:30</c:v>
                  </c:pt>
                  <c:pt idx="5">
                    <c:v>13:45</c:v>
                  </c:pt>
                  <c:pt idx="6">
                    <c:v>14:00</c:v>
                  </c:pt>
                  <c:pt idx="7">
                    <c:v>14:15</c:v>
                  </c:pt>
                </c:lvl>
              </c:multiLvlStrCache>
            </c:multiLvlStrRef>
          </c:cat>
          <c:val>
            <c:numRef>
              <c:f>Sheet1!$B$2:$B$9</c:f>
              <c:numCache>
                <c:formatCode>General</c:formatCode>
                <c:ptCount val="8"/>
                <c:pt idx="0">
                  <c:v>24.5</c:v>
                </c:pt>
                <c:pt idx="1">
                  <c:v>29.4</c:v>
                </c:pt>
                <c:pt idx="2">
                  <c:v>33.4</c:v>
                </c:pt>
                <c:pt idx="3">
                  <c:v>34.4</c:v>
                </c:pt>
                <c:pt idx="4">
                  <c:v>29</c:v>
                </c:pt>
                <c:pt idx="5">
                  <c:v>24.7</c:v>
                </c:pt>
                <c:pt idx="6">
                  <c:v>19.1</c:v>
                </c:pt>
                <c:pt idx="7">
                  <c:v>16.3</c:v>
                </c:pt>
              </c:numCache>
            </c:numRef>
          </c:val>
        </c:ser>
        <c:dLbls>
          <c:numFmt formatCode="0.0" sourceLinked="0"/>
          <c:txPr>
            <a:bodyPr/>
            <a:lstStyle/>
            <a:p>
              <a:pPr>
                <a:defRPr b="0" i="0" strike="noStrike" sz="1000" u="none">
                  <a:solidFill>
                    <a:srgbClr val="1B2A4A"/>
                  </a:solidFill>
                  <a:latin typeface="+mn-lt"/>
                </a:defRPr>
              </a:pPr>
            </a:p>
          </c:txPr>
          <c:dLblPos val="outEnd"/>
          <c:showLegendKey val="0"/>
          <c:showVal val="1"/>
          <c:showCatName val="0"/>
          <c:showSerName val="0"/>
          <c:showPercent val="0"/>
          <c:showBubbleSize val="0"/>
          <c:showLeaderLines val="0"/>
        </c:dLbls>
        <c:gapWidth val="45"/>
        <c:overlap val="0"/>
        <c:axId val="2094734554"/>
        <c:axId val="2094734552"/>
        <c:axId val="2094734556"/>
      </c:barChart>
      <c:lineChart>
        <c:varyColors val="0"/>
        <c:ser>
          <c:idx val="1"/>
          <c:order val="1"/>
          <c:tx>
            <c:strRef>
              <c:f>Sheet1!$C$1</c:f>
              <c:strCache>
                <c:ptCount val="1"/>
                <c:pt idx="0">
                  <c:v>Capacity C = 30</c:v>
                </c:pt>
              </c:strCache>
            </c:strRef>
          </c:tx>
          <c:spPr>
            <a:solidFill>
              <a:srgbClr val="C0392B"/>
            </a:solidFill>
            <a:ln w="25400" cap="flat">
              <a:solidFill>
                <a:srgbClr val="C0392B"/>
              </a:solidFill>
              <a:prstDash val="dash"/>
              <a:round/>
            </a:ln>
            <a:effectLst/>
          </c:spPr>
          <c:invertIfNegative val="0"/>
          <c:dLbls>
            <c:numFmt formatCode="0.0" sourceLinked="0"/>
            <c:txPr>
              <a:bodyPr/>
              <a:lstStyle/>
              <a:p>
                <a:pPr>
                  <a:defRPr b="0" i="0" strike="noStrike" sz="1000" u="none">
                    <a:solidFill>
                      <a:srgbClr val="1B2A4A"/>
                    </a:solidFill>
                    <a:latin typeface="+mn-lt"/>
                  </a:defRPr>
                </a:pPr>
              </a:p>
            </c:txPr>
            <c:dLblPos val="outEnd"/>
            <c:showLegendKey val="0"/>
            <c:showVal val="0"/>
            <c:showCatName val="0"/>
            <c:showSerName val="0"/>
            <c:showPercent val="0"/>
            <c:showBubbleSize val="0"/>
            <c:showLeaderLines val="0"/>
          </c:dLbls>
          <c:marker>
            <c:symbol val="none"/>
            <c:size val="6"/>
            <c:spPr>
              <a:solidFill>
                <a:srgbClr val="C0392B"/>
              </a:solidFill>
              <a:ln w="9525" cap="flat">
                <a:solidFill>
                  <a:srgbClr val="C0392B"/>
                </a:solidFill>
                <a:prstDash val="solid"/>
                <a:round/>
              </a:ln>
              <a:effectLst/>
            </c:spPr>
          </c:marker>
          <c:cat>
            <c:multiLvlStrRef>
              <c:f>Sheet1!$A$2:$A$9</c:f>
              <c:multiLvlStrCache>
                <c:ptCount val="8"/>
                <c:lvl>
                  <c:pt idx="0">
                    <c:v>12:30</c:v>
                  </c:pt>
                  <c:pt idx="1">
                    <c:v>12:45</c:v>
                  </c:pt>
                  <c:pt idx="2">
                    <c:v>13:00</c:v>
                  </c:pt>
                  <c:pt idx="3">
                    <c:v>13:15</c:v>
                  </c:pt>
                  <c:pt idx="4">
                    <c:v>13:30</c:v>
                  </c:pt>
                  <c:pt idx="5">
                    <c:v>13:45</c:v>
                  </c:pt>
                  <c:pt idx="6">
                    <c:v>14:00</c:v>
                  </c:pt>
                  <c:pt idx="7">
                    <c:v>14:15</c:v>
                  </c:pt>
                </c:lvl>
              </c:multiLvlStrCache>
            </c:multiLvlStrRef>
          </c:cat>
          <c:val>
            <c:numRef>
              <c:f>Sheet1!$C$2:$C$9</c:f>
              <c:numCache>
                <c:formatCode>General</c:formatCode>
                <c:ptCount val="8"/>
                <c:pt idx="0">
                  <c:v>30</c:v>
                </c:pt>
                <c:pt idx="1">
                  <c:v>30</c:v>
                </c:pt>
                <c:pt idx="2">
                  <c:v>30</c:v>
                </c:pt>
                <c:pt idx="3">
                  <c:v>30</c:v>
                </c:pt>
                <c:pt idx="4">
                  <c:v>30</c:v>
                </c:pt>
                <c:pt idx="5">
                  <c:v>30</c:v>
                </c:pt>
                <c:pt idx="6">
                  <c:v>30</c:v>
                </c:pt>
                <c:pt idx="7">
                  <c:v>30</c:v>
                </c:pt>
              </c:numCache>
            </c:numRef>
          </c:val>
          <c:smooth val="0"/>
        </c:ser>
        <c:dLbls>
          <c:numFmt formatCode="0.0" sourceLinked="0"/>
          <c:txPr>
            <a:bodyPr/>
            <a:lstStyle/>
            <a:p>
              <a:pPr>
                <a:defRPr b="0" i="0" strike="noStrike" sz="1000" u="none">
                  <a:solidFill>
                    <a:srgbClr val="1B2A4A"/>
                  </a:solidFill>
                  <a:latin typeface="+mn-lt"/>
                </a:defRPr>
              </a:pPr>
            </a:p>
          </c:txPr>
          <c:dLblPos val="outEnd"/>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8A94A3"/>
                    </a:solidFill>
                    <a:latin typeface="+mn-lt"/>
                  </a:defRPr>
                </a:pPr>
                <a:r>
                  <a:rPr sz="1000" b="0" i="0" u="none" strike="noStrike">
                    <a:solidFill>
                      <a:srgbClr val="8A94A3"/>
                    </a:solidFill>
                    <a:latin typeface="+mn-lt"/>
                  </a:rPr>
                  <a:t>Slot start time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4A"/>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DDE3EA"/>
              </a:solidFill>
              <a:prstDash val="solid"/>
              <a:round/>
            </a:ln>
          </c:spPr>
        </c:majorGridlines>
        <c:title>
          <c:tx>
            <c:rich>
              <a:bodyPr/>
              <a:lstStyle/>
              <a:p>
                <a:pPr>
                  <a:defRPr sz="1000" b="0" i="0" u="none" strike="noStrike">
                    <a:solidFill>
                      <a:srgbClr val="8A94A3"/>
                    </a:solidFill>
                    <a:latin typeface="+mn-lt"/>
                  </a:defRPr>
                </a:pPr>
                <a:r>
                  <a:rPr sz="1000" b="0" i="0" u="none" strike="noStrike">
                    <a:solidFill>
                      <a:srgbClr val="8A94A3"/>
                    </a:solidFill>
                    <a:latin typeface="+mn-lt"/>
                  </a:rPr>
                  <a:t>Arrivals per 15 min</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1B2A4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1B2A4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P(X &gt; C), %</c:v>
                </c:pt>
              </c:strCache>
            </c:strRef>
          </c:tx>
          <c:spPr>
            <a:solidFill>
              <a:srgbClr val="2E8B57"/>
            </a:solidFill>
            <a:effectLst/>
          </c:spPr>
          <c:invertIfNegative val="0"/>
          <c:dLbls>
            <c:numFmt formatCode="0.0" sourceLinked="0"/>
            <c:txPr>
              <a:bodyPr/>
              <a:lstStyle/>
              <a:p>
                <a:pPr>
                  <a:defRPr b="0" i="0" strike="noStrike" sz="1000" u="none">
                    <a:solidFill>
                      <a:srgbClr val="1B2A4A"/>
                    </a:solidFill>
                    <a:latin typeface="+mn-lt"/>
                  </a:defRPr>
                </a:pPr>
              </a:p>
            </c:txPr>
            <c:showLegendKey val="0"/>
            <c:showVal val="1"/>
            <c:showCatName val="0"/>
            <c:showSerName val="0"/>
            <c:showPercent val="0"/>
            <c:showBubbleSize val="0"/>
            <c:showLeaderLines val="0"/>
          </c:dLbls>
          <c:dPt>
            <c:idx val="0"/>
            <c:invertIfNegative val="0"/>
            <c:bubble3D val="0"/>
            <c:spPr>
              <a:solidFill>
                <a:srgbClr val="2E8B57"/>
              </a:solidFill>
              <a:effectLst/>
            </c:spPr>
          </c:dPt>
          <c:dPt>
            <c:idx val="1"/>
            <c:invertIfNegative val="0"/>
            <c:bubble3D val="0"/>
            <c:spPr>
              <a:solidFill>
                <a:srgbClr val="E07B2E"/>
              </a:solidFill>
              <a:effectLst/>
            </c:spPr>
          </c:dPt>
          <c:dPt>
            <c:idx val="2"/>
            <c:invertIfNegative val="0"/>
            <c:bubble3D val="0"/>
            <c:spPr>
              <a:solidFill>
                <a:srgbClr val="C0392B"/>
              </a:solidFill>
              <a:effectLst/>
            </c:spPr>
          </c:dPt>
          <c:dPt>
            <c:idx val="3"/>
            <c:invertIfNegative val="0"/>
            <c:bubble3D val="0"/>
            <c:spPr>
              <a:solidFill>
                <a:srgbClr val="C0392B"/>
              </a:solidFill>
              <a:effectLst/>
            </c:spPr>
          </c:dPt>
          <c:dPt>
            <c:idx val="4"/>
            <c:invertIfNegative val="0"/>
            <c:bubble3D val="0"/>
            <c:spPr>
              <a:solidFill>
                <a:srgbClr val="E07B2E"/>
              </a:solidFill>
              <a:effectLst/>
            </c:spPr>
          </c:dPt>
          <c:dPt>
            <c:idx val="5"/>
            <c:invertIfNegative val="0"/>
            <c:bubble3D val="0"/>
            <c:spPr>
              <a:solidFill>
                <a:srgbClr val="2E8B57"/>
              </a:solidFill>
              <a:effectLst/>
            </c:spPr>
          </c:dPt>
          <c:dPt>
            <c:idx val="6"/>
            <c:invertIfNegative val="0"/>
            <c:bubble3D val="0"/>
            <c:spPr>
              <a:solidFill>
                <a:srgbClr val="2E8B57"/>
              </a:solidFill>
              <a:effectLst/>
            </c:spPr>
          </c:dPt>
          <c:dPt>
            <c:idx val="7"/>
            <c:invertIfNegative val="0"/>
            <c:bubble3D val="0"/>
            <c:spPr>
              <a:solidFill>
                <a:srgbClr val="2E8B57"/>
              </a:solidFill>
              <a:effectLst/>
            </c:spPr>
          </c:dPt>
          <c:cat>
            <c:multiLvlStrRef>
              <c:f>Sheet1!$A$2:$A$9</c:f>
              <c:multiLvlStrCache>
                <c:ptCount val="8"/>
                <c:lvl>
                  <c:pt idx="0">
                    <c:v>12:30</c:v>
                  </c:pt>
                  <c:pt idx="1">
                    <c:v>12:45</c:v>
                  </c:pt>
                  <c:pt idx="2">
                    <c:v>13:00</c:v>
                  </c:pt>
                  <c:pt idx="3">
                    <c:v>13:15</c:v>
                  </c:pt>
                  <c:pt idx="4">
                    <c:v>13:30</c:v>
                  </c:pt>
                  <c:pt idx="5">
                    <c:v>13:45</c:v>
                  </c:pt>
                  <c:pt idx="6">
                    <c:v>14:00</c:v>
                  </c:pt>
                  <c:pt idx="7">
                    <c:v>14:15</c:v>
                  </c:pt>
                </c:lvl>
              </c:multiLvlStrCache>
            </c:multiLvlStrRef>
          </c:cat>
          <c:val>
            <c:numRef>
              <c:f>Sheet1!$B$2:$B$9</c:f>
              <c:numCache>
                <c:formatCode>General</c:formatCode>
                <c:ptCount val="8"/>
                <c:pt idx="0">
                  <c:v>11.4</c:v>
                </c:pt>
                <c:pt idx="1">
                  <c:v>41</c:v>
                </c:pt>
                <c:pt idx="2">
                  <c:v>68.2</c:v>
                </c:pt>
                <c:pt idx="3">
                  <c:v>73.9</c:v>
                </c:pt>
                <c:pt idx="4">
                  <c:v>38.3</c:v>
                </c:pt>
                <c:pt idx="5">
                  <c:v>12.4</c:v>
                </c:pt>
                <c:pt idx="6">
                  <c:v>0.8</c:v>
                </c:pt>
                <c:pt idx="7">
                  <c:v>0.1</c:v>
                </c:pt>
              </c:numCache>
            </c:numRef>
          </c:val>
        </c:ser>
        <c:dLbls>
          <c:numFmt formatCode="0.0" sourceLinked="0"/>
          <c:txPr>
            <a:bodyPr/>
            <a:lstStyle/>
            <a:p>
              <a:pPr>
                <a:defRPr b="0" i="0" strike="noStrike" sz="1000" u="none">
                  <a:solidFill>
                    <a:srgbClr val="1B2A4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8A94A3"/>
                    </a:solidFill>
                    <a:latin typeface="+mn-lt"/>
                  </a:defRPr>
                </a:pPr>
                <a:r>
                  <a:rPr sz="1000" b="0" i="0" u="none" strike="noStrike">
                    <a:solidFill>
                      <a:srgbClr val="8A94A3"/>
                    </a:solidFill>
                    <a:latin typeface="+mn-lt"/>
                  </a:rPr>
                  <a:t>Slot start time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4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DE3EA"/>
              </a:solidFill>
              <a:prstDash val="solid"/>
              <a:round/>
            </a:ln>
          </c:spPr>
        </c:majorGridlines>
        <c:title>
          <c:tx>
            <c:rich>
              <a:bodyPr/>
              <a:lstStyle/>
              <a:p>
                <a:pPr>
                  <a:defRPr sz="1000" b="0" i="0" u="none" strike="noStrike">
                    <a:solidFill>
                      <a:srgbClr val="8A94A3"/>
                    </a:solidFill>
                    <a:latin typeface="+mn-lt"/>
                  </a:defRPr>
                </a:pPr>
                <a:r>
                  <a:rPr sz="1000" b="0" i="0" u="none" strike="noStrike">
                    <a:solidFill>
                      <a:srgbClr val="8A94A3"/>
                    </a:solidFill>
                    <a:latin typeface="+mn-lt"/>
                  </a:rPr>
                  <a:t>P(X &gt; 30), %</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1B2A4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Change vs Monday regular week, %</c:v>
                </c:pt>
              </c:strCache>
            </c:strRef>
          </c:tx>
          <c:spPr>
            <a:solidFill>
              <a:srgbClr val="9FD4D6"/>
            </a:solidFill>
            <a:effectLst/>
          </c:spPr>
          <c:invertIfNegative val="0"/>
          <c:dLbls>
            <c:numFmt formatCode="0.0" sourceLinked="0"/>
            <c:txPr>
              <a:bodyPr/>
              <a:lstStyle/>
              <a:p>
                <a:pPr>
                  <a:defRPr b="0" i="0" strike="noStrike" sz="1000" u="none">
                    <a:solidFill>
                      <a:srgbClr val="1B2A4A"/>
                    </a:solidFill>
                    <a:latin typeface="+mn-lt"/>
                  </a:defRPr>
                </a:pPr>
              </a:p>
            </c:txPr>
            <c:showLegendKey val="0"/>
            <c:showVal val="1"/>
            <c:showCatName val="0"/>
            <c:showSerName val="0"/>
            <c:showPercent val="0"/>
            <c:showBubbleSize val="0"/>
            <c:showLeaderLines val="0"/>
          </c:dLbls>
          <c:dPt>
            <c:idx val="0"/>
            <c:invertIfNegative val="0"/>
            <c:bubble3D val="0"/>
            <c:spPr>
              <a:solidFill>
                <a:srgbClr val="9FD4D6"/>
              </a:solidFill>
              <a:effectLst/>
            </c:spPr>
          </c:dPt>
          <c:dPt>
            <c:idx val="1"/>
            <c:invertIfNegative val="0"/>
            <c:bubble3D val="0"/>
            <c:spPr>
              <a:solidFill>
                <a:srgbClr val="9FD4D6"/>
              </a:solidFill>
              <a:effectLst/>
            </c:spPr>
          </c:dPt>
          <c:dPt>
            <c:idx val="2"/>
            <c:invertIfNegative val="0"/>
            <c:bubble3D val="0"/>
            <c:spPr>
              <a:solidFill>
                <a:srgbClr val="00868B"/>
              </a:solidFill>
              <a:effectLst/>
            </c:spPr>
          </c:dPt>
          <c:dPt>
            <c:idx val="3"/>
            <c:invertIfNegative val="0"/>
            <c:bubble3D val="0"/>
            <c:spPr>
              <a:solidFill>
                <a:srgbClr val="00868B"/>
              </a:solidFill>
              <a:effectLst/>
            </c:spPr>
          </c:dPt>
          <c:dPt>
            <c:idx val="4"/>
            <c:invertIfNegative val="0"/>
            <c:bubble3D val="0"/>
            <c:spPr>
              <a:solidFill>
                <a:srgbClr val="00868B"/>
              </a:solidFill>
              <a:effectLst/>
            </c:spPr>
          </c:dPt>
          <c:cat>
            <c:multiLvlStrRef>
              <c:f>Sheet1!$A$2:$A$6</c:f>
              <c:multiLvlStrCache>
                <c:ptCount val="5"/>
                <c:lvl>
                  <c:pt idx="0">
                    <c:v>Tuesday</c:v>
                  </c:pt>
                  <c:pt idx="1">
                    <c:v>Wednesday</c:v>
                  </c:pt>
                  <c:pt idx="2">
                    <c:v>Thursday</c:v>
                  </c:pt>
                  <c:pt idx="3">
                    <c:v>Friday</c:v>
                  </c:pt>
                  <c:pt idx="4">
                    <c:v>Exam week</c:v>
                  </c:pt>
                </c:lvl>
              </c:multiLvlStrCache>
            </c:multiLvlStrRef>
          </c:cat>
          <c:val>
            <c:numRef>
              <c:f>Sheet1!$B$2:$B$6</c:f>
              <c:numCache>
                <c:formatCode>General</c:formatCode>
                <c:ptCount val="5"/>
                <c:pt idx="0">
                  <c:v>-1.8</c:v>
                </c:pt>
                <c:pt idx="1">
                  <c:v>0</c:v>
                </c:pt>
                <c:pt idx="2">
                  <c:v>-5.4</c:v>
                </c:pt>
                <c:pt idx="3">
                  <c:v>-9.4</c:v>
                </c:pt>
                <c:pt idx="4">
                  <c:v>-11.3</c:v>
                </c:pt>
              </c:numCache>
            </c:numRef>
          </c:val>
        </c:ser>
        <c:dLbls>
          <c:numFmt formatCode="0.0" sourceLinked="0"/>
          <c:txPr>
            <a:bodyPr/>
            <a:lstStyle/>
            <a:p>
              <a:pPr>
                <a:defRPr b="0" i="0" strike="noStrike" sz="1000" u="none">
                  <a:solidFill>
                    <a:srgbClr val="1B2A4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4A"/>
                </a:solidFill>
                <a:latin typeface="+mn-lt"/>
              </a:defRPr>
            </a:pPr>
            <a:endParaRPr lang="en-US"/>
          </a:p>
        </c:txPr>
        <c:crossAx val="2094734552"/>
        <c:crosses val="autoZero"/>
        <c:auto val="1"/>
        <c:lblAlgn val="ctr"/>
        <c:noMultiLvlLbl val="1"/>
      </c:catAx>
      <c:valAx>
        <c:axId val="2094734552"/>
        <c:scaling>
          <c:orientation val="minMax"/>
          <c:max val="5"/>
          <c:min val="-15"/>
        </c:scaling>
        <c:delete val="0"/>
        <c:axPos val="b"/>
        <c:majorGridlines>
          <c:spPr>
            <a:ln w="9525" cap="flat">
              <a:solidFill>
                <a:srgbClr val="DDE3EA"/>
              </a:solidFill>
              <a:prstDash val="solid"/>
              <a:round/>
            </a:ln>
          </c:spPr>
        </c:majorGridlines>
        <c:title>
          <c:tx>
            <c:rich>
              <a:bodyPr/>
              <a:lstStyle/>
              <a:p>
                <a:pPr>
                  <a:defRPr sz="1000" b="0" i="0" u="none" strike="noStrike">
                    <a:solidFill>
                      <a:srgbClr val="8A94A3"/>
                    </a:solidFill>
                    <a:latin typeface="+mn-lt"/>
                  </a:defRPr>
                </a:pPr>
                <a:r>
                  <a:rPr sz="1000" b="0" i="0" u="none" strike="noStrike">
                    <a:solidFill>
                      <a:srgbClr val="8A94A3"/>
                    </a:solidFill>
                    <a:latin typeface="+mn-lt"/>
                  </a:rPr>
                  <a:t>Change in arrivals vs Monday, %</a:t>
                </a:r>
              </a:p>
            </c:rich>
          </c:tx>
          <c:layout/>
          <c:overlay val="0"/>
        </c:title>
        <c:numFmt formatCode="General" sourceLinked="0"/>
        <c:majorTickMark val="out"/>
        <c:minorTickMark val="none"/>
        <c:tickLblPos val="low"/>
        <c:spPr>
          <a:ln w="12700" cap="flat">
            <a:noFill/>
            <a:prstDash val="solid"/>
            <a:round/>
          </a:ln>
        </c:spPr>
        <c:txPr>
          <a:bodyPr/>
          <a:lstStyle/>
          <a:p>
            <a:pPr>
              <a:defRPr sz="1000" b="0" i="0" u="none" strike="noStrike">
                <a:solidFill>
                  <a:srgbClr val="1B2A4A"/>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Poisson</c:v>
                </c:pt>
              </c:strCache>
            </c:strRef>
          </c:tx>
          <c:spPr>
            <a:solidFill>
              <a:srgbClr val="9FD4D6"/>
            </a:solidFill>
            <a:effectLst/>
          </c:spPr>
          <c:invertIfNegative val="0"/>
          <c:dLbls>
            <c:numFmt formatCode="#,##0" sourceLinked="0"/>
            <c:txPr>
              <a:bodyPr/>
              <a:lstStyle/>
              <a:p>
                <a:pPr>
                  <a:defRPr b="0" i="0" strike="noStrike" sz="1000" u="none">
                    <a:solidFill>
                      <a:srgbClr val="1B2A4A"/>
                    </a:solidFill>
                    <a:latin typeface="+mn-lt"/>
                  </a:defRPr>
                </a:pPr>
              </a:p>
            </c:txPr>
            <c:showLegendKey val="0"/>
            <c:showVal val="0"/>
            <c:showCatName val="0"/>
            <c:showSerName val="0"/>
            <c:showPercent val="0"/>
            <c:showBubbleSize val="0"/>
            <c:showLeaderLines val="0"/>
          </c:dLbls>
          <c:cat>
            <c:multiLvlStrRef>
              <c:f>Sheet1!$A$2:$A$9</c:f>
              <c:multiLvlStrCache>
                <c:ptCount val="8"/>
                <c:lvl>
                  <c:pt idx="0">
                    <c:v>12:30</c:v>
                  </c:pt>
                  <c:pt idx="1">
                    <c:v>12:45</c:v>
                  </c:pt>
                  <c:pt idx="2">
                    <c:v>13:00</c:v>
                  </c:pt>
                  <c:pt idx="3">
                    <c:v>13:15</c:v>
                  </c:pt>
                  <c:pt idx="4">
                    <c:v>13:30</c:v>
                  </c:pt>
                  <c:pt idx="5">
                    <c:v>13:45</c:v>
                  </c:pt>
                  <c:pt idx="6">
                    <c:v>14:00</c:v>
                  </c:pt>
                  <c:pt idx="7">
                    <c:v>14:15</c:v>
                  </c:pt>
                </c:lvl>
              </c:multiLvlStrCache>
            </c:multiLvlStrRef>
          </c:cat>
          <c:val>
            <c:numRef>
              <c:f>Sheet1!$B$2:$B$9</c:f>
              <c:numCache>
                <c:formatCode>General</c:formatCode>
                <c:ptCount val="8"/>
                <c:pt idx="0">
                  <c:v>11.4</c:v>
                </c:pt>
                <c:pt idx="1">
                  <c:v>41</c:v>
                </c:pt>
                <c:pt idx="2">
                  <c:v>68.2</c:v>
                </c:pt>
                <c:pt idx="3">
                  <c:v>73.9</c:v>
                </c:pt>
                <c:pt idx="4">
                  <c:v>38.3</c:v>
                </c:pt>
                <c:pt idx="5">
                  <c:v>12.4</c:v>
                </c:pt>
                <c:pt idx="6">
                  <c:v>0.8</c:v>
                </c:pt>
                <c:pt idx="7">
                  <c:v>0.1</c:v>
                </c:pt>
              </c:numCache>
            </c:numRef>
          </c:val>
        </c:ser>
        <c:ser>
          <c:idx val="1"/>
          <c:order val="1"/>
          <c:tx>
            <c:strRef>
              <c:f>Sheet1!$C$1</c:f>
              <c:strCache>
                <c:ptCount val="1"/>
                <c:pt idx="0">
                  <c:v>Poisson–Gamma</c:v>
                </c:pt>
              </c:strCache>
            </c:strRef>
          </c:tx>
          <c:spPr>
            <a:solidFill>
              <a:srgbClr val="1B2A4A"/>
            </a:solidFill>
            <a:effectLst/>
          </c:spPr>
          <c:invertIfNegative val="0"/>
          <c:dLbls>
            <c:numFmt formatCode="#,##0" sourceLinked="0"/>
            <c:txPr>
              <a:bodyPr/>
              <a:lstStyle/>
              <a:p>
                <a:pPr>
                  <a:defRPr b="0" i="0" strike="noStrike" sz="1000" u="none">
                    <a:solidFill>
                      <a:srgbClr val="1B2A4A"/>
                    </a:solidFill>
                    <a:latin typeface="+mn-lt"/>
                  </a:defRPr>
                </a:pPr>
              </a:p>
            </c:txPr>
            <c:showLegendKey val="0"/>
            <c:showVal val="0"/>
            <c:showCatName val="0"/>
            <c:showSerName val="0"/>
            <c:showPercent val="0"/>
            <c:showBubbleSize val="0"/>
            <c:showLeaderLines val="0"/>
          </c:dLbls>
          <c:cat>
            <c:multiLvlStrRef>
              <c:f>Sheet1!$A$2:$A$9</c:f>
              <c:multiLvlStrCache>
                <c:ptCount val="8"/>
                <c:lvl>
                  <c:pt idx="0">
                    <c:v>12:30</c:v>
                  </c:pt>
                  <c:pt idx="1">
                    <c:v>12:45</c:v>
                  </c:pt>
                  <c:pt idx="2">
                    <c:v>13:00</c:v>
                  </c:pt>
                  <c:pt idx="3">
                    <c:v>13:15</c:v>
                  </c:pt>
                  <c:pt idx="4">
                    <c:v>13:30</c:v>
                  </c:pt>
                  <c:pt idx="5">
                    <c:v>13:45</c:v>
                  </c:pt>
                  <c:pt idx="6">
                    <c:v>14:00</c:v>
                  </c:pt>
                  <c:pt idx="7">
                    <c:v>14:15</c:v>
                  </c:pt>
                </c:lvl>
              </c:multiLvlStrCache>
            </c:multiLvlStrRef>
          </c:cat>
          <c:val>
            <c:numRef>
              <c:f>Sheet1!$C$2:$C$9</c:f>
              <c:numCache>
                <c:formatCode>General</c:formatCode>
                <c:ptCount val="8"/>
                <c:pt idx="0">
                  <c:v>12.8</c:v>
                </c:pt>
                <c:pt idx="1">
                  <c:v>41.3</c:v>
                </c:pt>
                <c:pt idx="2">
                  <c:v>66.5</c:v>
                </c:pt>
                <c:pt idx="3">
                  <c:v>71.8</c:v>
                </c:pt>
                <c:pt idx="4">
                  <c:v>38.8</c:v>
                </c:pt>
                <c:pt idx="5">
                  <c:v>13.9</c:v>
                </c:pt>
                <c:pt idx="6">
                  <c:v>1.1</c:v>
                </c:pt>
                <c:pt idx="7">
                  <c:v>0.1</c:v>
                </c:pt>
              </c:numCache>
            </c:numRef>
          </c:val>
        </c:ser>
        <c:dLbls>
          <c:numFmt formatCode="#,##0" sourceLinked="0"/>
          <c:txPr>
            <a:bodyPr/>
            <a:lstStyle/>
            <a:p>
              <a:pPr>
                <a:defRPr b="0" i="0" strike="noStrike" sz="1000" u="none">
                  <a:solidFill>
                    <a:srgbClr val="1B2A4A"/>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8A94A3"/>
                    </a:solidFill>
                    <a:latin typeface="+mn-lt"/>
                  </a:defRPr>
                </a:pPr>
                <a:r>
                  <a:rPr sz="1000" b="0" i="0" u="none" strike="noStrike">
                    <a:solidFill>
                      <a:srgbClr val="8A94A3"/>
                    </a:solidFill>
                    <a:latin typeface="+mn-lt"/>
                  </a:rPr>
                  <a:t>Slot start time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4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DE3EA"/>
              </a:solidFill>
              <a:prstDash val="solid"/>
              <a:round/>
            </a:ln>
          </c:spPr>
        </c:majorGridlines>
        <c:title>
          <c:tx>
            <c:rich>
              <a:bodyPr/>
              <a:lstStyle/>
              <a:p>
                <a:pPr>
                  <a:defRPr sz="1000" b="0" i="0" u="none" strike="noStrike">
                    <a:solidFill>
                      <a:srgbClr val="8A94A3"/>
                    </a:solidFill>
                    <a:latin typeface="+mn-lt"/>
                  </a:defRPr>
                </a:pPr>
                <a:r>
                  <a:rPr sz="1000" b="0" i="0" u="none" strike="noStrike">
                    <a:solidFill>
                      <a:srgbClr val="8A94A3"/>
                    </a:solidFill>
                    <a:latin typeface="+mn-lt"/>
                  </a:rPr>
                  <a:t>P(X &gt; 30), %</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1B2A4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1B2A4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P(slot is the peak), %</c:v>
                </c:pt>
              </c:strCache>
            </c:strRef>
          </c:tx>
          <c:spPr>
            <a:solidFill>
              <a:srgbClr val="9FD4D6"/>
            </a:solidFill>
            <a:effectLst/>
          </c:spPr>
          <c:invertIfNegative val="0"/>
          <c:dLbls>
            <c:numFmt formatCode="0" sourceLinked="0"/>
            <c:txPr>
              <a:bodyPr/>
              <a:lstStyle/>
              <a:p>
                <a:pPr>
                  <a:defRPr b="0" i="0" strike="noStrike" sz="1000" u="none">
                    <a:solidFill>
                      <a:srgbClr val="1B2A4A"/>
                    </a:solidFill>
                    <a:latin typeface="+mn-lt"/>
                  </a:defRPr>
                </a:pPr>
              </a:p>
            </c:txPr>
            <c:showLegendKey val="0"/>
            <c:showVal val="1"/>
            <c:showCatName val="0"/>
            <c:showSerName val="0"/>
            <c:showPercent val="0"/>
            <c:showBubbleSize val="0"/>
            <c:showLeaderLines val="0"/>
          </c:dLbls>
          <c:dPt>
            <c:idx val="0"/>
            <c:invertIfNegative val="0"/>
            <c:bubble3D val="0"/>
            <c:spPr>
              <a:solidFill>
                <a:srgbClr val="9FD4D6"/>
              </a:solidFill>
              <a:effectLst/>
            </c:spPr>
          </c:dPt>
          <c:dPt>
            <c:idx val="1"/>
            <c:invertIfNegative val="0"/>
            <c:bubble3D val="0"/>
            <c:spPr>
              <a:solidFill>
                <a:srgbClr val="9FD4D6"/>
              </a:solidFill>
              <a:effectLst/>
            </c:spPr>
          </c:dPt>
          <c:dPt>
            <c:idx val="2"/>
            <c:invertIfNegative val="0"/>
            <c:bubble3D val="0"/>
            <c:spPr>
              <a:solidFill>
                <a:srgbClr val="9FD4D6"/>
              </a:solidFill>
              <a:effectLst/>
            </c:spPr>
          </c:dPt>
          <c:dPt>
            <c:idx val="3"/>
            <c:invertIfNegative val="0"/>
            <c:bubble3D val="0"/>
            <c:spPr>
              <a:solidFill>
                <a:srgbClr val="1B2A4A"/>
              </a:solidFill>
              <a:effectLst/>
            </c:spPr>
          </c:dPt>
          <c:dPt>
            <c:idx val="4"/>
            <c:invertIfNegative val="0"/>
            <c:bubble3D val="0"/>
            <c:spPr>
              <a:solidFill>
                <a:srgbClr val="9FD4D6"/>
              </a:solidFill>
              <a:effectLst/>
            </c:spPr>
          </c:dPt>
          <c:dPt>
            <c:idx val="5"/>
            <c:invertIfNegative val="0"/>
            <c:bubble3D val="0"/>
            <c:spPr>
              <a:solidFill>
                <a:srgbClr val="9FD4D6"/>
              </a:solidFill>
              <a:effectLst/>
            </c:spPr>
          </c:dPt>
          <c:dPt>
            <c:idx val="6"/>
            <c:invertIfNegative val="0"/>
            <c:bubble3D val="0"/>
            <c:spPr>
              <a:solidFill>
                <a:srgbClr val="9FD4D6"/>
              </a:solidFill>
              <a:effectLst/>
            </c:spPr>
          </c:dPt>
          <c:dPt>
            <c:idx val="7"/>
            <c:invertIfNegative val="0"/>
            <c:bubble3D val="0"/>
            <c:spPr>
              <a:solidFill>
                <a:srgbClr val="9FD4D6"/>
              </a:solidFill>
              <a:effectLst/>
            </c:spPr>
          </c:dPt>
          <c:cat>
            <c:multiLvlStrRef>
              <c:f>Sheet1!$A$2:$A$9</c:f>
              <c:multiLvlStrCache>
                <c:ptCount val="8"/>
                <c:lvl>
                  <c:pt idx="0">
                    <c:v>12:30</c:v>
                  </c:pt>
                  <c:pt idx="1">
                    <c:v>12:45</c:v>
                  </c:pt>
                  <c:pt idx="2">
                    <c:v>13:00</c:v>
                  </c:pt>
                  <c:pt idx="3">
                    <c:v>13:15</c:v>
                  </c:pt>
                  <c:pt idx="4">
                    <c:v>13:30</c:v>
                  </c:pt>
                  <c:pt idx="5">
                    <c:v>13:45</c:v>
                  </c:pt>
                  <c:pt idx="6">
                    <c:v>14:00</c:v>
                  </c:pt>
                  <c:pt idx="7">
                    <c:v>14:15</c:v>
                  </c:pt>
                </c:lvl>
              </c:multiLvlStrCache>
            </c:multiLvlStrRef>
          </c:cat>
          <c:val>
            <c:numRef>
              <c:f>Sheet1!$B$2:$B$9</c:f>
              <c:numCache>
                <c:formatCode>General</c:formatCode>
                <c:ptCount val="8"/>
                <c:pt idx="0">
                  <c:v>1.9</c:v>
                </c:pt>
                <c:pt idx="1">
                  <c:v>10.9</c:v>
                </c:pt>
                <c:pt idx="2">
                  <c:v>32.8</c:v>
                </c:pt>
                <c:pt idx="3">
                  <c:v>41.9</c:v>
                </c:pt>
                <c:pt idx="4">
                  <c:v>10.6</c:v>
                </c:pt>
                <c:pt idx="5">
                  <c:v>1.9</c:v>
                </c:pt>
                <c:pt idx="6">
                  <c:v>0.1</c:v>
                </c:pt>
                <c:pt idx="7">
                  <c:v>0</c:v>
                </c:pt>
              </c:numCache>
            </c:numRef>
          </c:val>
        </c:ser>
        <c:dLbls>
          <c:numFmt formatCode="0" sourceLinked="0"/>
          <c:txPr>
            <a:bodyPr/>
            <a:lstStyle/>
            <a:p>
              <a:pPr>
                <a:defRPr b="0" i="0" strike="noStrike" sz="1000" u="none">
                  <a:solidFill>
                    <a:srgbClr val="1B2A4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8A94A3"/>
                    </a:solidFill>
                    <a:latin typeface="+mn-lt"/>
                  </a:defRPr>
                </a:pPr>
                <a:r>
                  <a:rPr sz="1000" b="0" i="0" u="none" strike="noStrike">
                    <a:solidFill>
                      <a:srgbClr val="8A94A3"/>
                    </a:solidFill>
                    <a:latin typeface="+mn-lt"/>
                  </a:rPr>
                  <a:t>Slot start time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4A"/>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DDE3EA"/>
              </a:solidFill>
              <a:prstDash val="solid"/>
              <a:round/>
            </a:ln>
          </c:spPr>
        </c:majorGridlines>
        <c:title>
          <c:tx>
            <c:rich>
              <a:bodyPr/>
              <a:lstStyle/>
              <a:p>
                <a:pPr>
                  <a:defRPr sz="1000" b="0" i="0" u="none" strike="noStrike">
                    <a:solidFill>
                      <a:srgbClr val="8A94A3"/>
                    </a:solidFill>
                    <a:latin typeface="+mn-lt"/>
                  </a:defRPr>
                </a:pPr>
                <a:r>
                  <a:rPr sz="1000" b="0" i="0" u="none" strike="noStrike">
                    <a:solidFill>
                      <a:srgbClr val="8A94A3"/>
                    </a:solidFill>
                    <a:latin typeface="+mn-lt"/>
                  </a:rPr>
                  <a:t>P(slot is the day's peak), %</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1B2A4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 (forecast only)</c:v>
                </c:pt>
              </c:strCache>
            </c:strRef>
          </c:tx>
          <c:spPr>
            <a:solidFill>
              <a:srgbClr val="9FD4D6"/>
            </a:solidFill>
            <a:effectLst/>
          </c:spPr>
          <c:invertIfNegative val="0"/>
          <c:dLbls>
            <c:numFmt formatCode="0" sourceLinked="0"/>
            <c:txPr>
              <a:bodyPr/>
              <a:lstStyle/>
              <a:p>
                <a:pPr>
                  <a:defRPr b="0" i="0" strike="noStrike" sz="900" u="none">
                    <a:solidFill>
                      <a:srgbClr val="1B2A4A"/>
                    </a:solidFill>
                    <a:latin typeface="+mn-lt"/>
                  </a:defRPr>
                </a:pPr>
              </a:p>
            </c:txPr>
            <c:showLegendKey val="0"/>
            <c:showVal val="1"/>
            <c:showCatName val="0"/>
            <c:showSerName val="0"/>
            <c:showPercent val="0"/>
            <c:showBubbleSize val="0"/>
            <c:showLeaderLines val="0"/>
          </c:dLbls>
          <c:cat>
            <c:multiLvlStrRef>
              <c:f>Sheet1!$A$2:$A$7</c:f>
              <c:multiLvlStrCache>
                <c:ptCount val="6"/>
                <c:lvl>
                  <c:pt idx="0">
                    <c:v>13:00</c:v>
                  </c:pt>
                  <c:pt idx="1">
                    <c:v>13:15</c:v>
                  </c:pt>
                  <c:pt idx="2">
                    <c:v>13:30</c:v>
                  </c:pt>
                  <c:pt idx="3">
                    <c:v>13:45</c:v>
                  </c:pt>
                  <c:pt idx="4">
                    <c:v>14:00</c:v>
                  </c:pt>
                  <c:pt idx="5">
                    <c:v>14:15</c:v>
                  </c:pt>
                </c:lvl>
              </c:multiLvlStrCache>
            </c:multiLvlStrRef>
          </c:cat>
          <c:val>
            <c:numRef>
              <c:f>Sheet1!$B$2:$B$7</c:f>
              <c:numCache>
                <c:formatCode>General</c:formatCode>
                <c:ptCount val="6"/>
                <c:pt idx="0">
                  <c:v>75.9</c:v>
                </c:pt>
                <c:pt idx="1">
                  <c:v>80.7</c:v>
                </c:pt>
                <c:pt idx="2">
                  <c:v>49.4</c:v>
                </c:pt>
                <c:pt idx="3">
                  <c:v>19.8</c:v>
                </c:pt>
                <c:pt idx="4">
                  <c:v>1.6</c:v>
                </c:pt>
                <c:pt idx="5">
                  <c:v>0.2</c:v>
                </c:pt>
              </c:numCache>
            </c:numRef>
          </c:val>
        </c:ser>
        <c:ser>
          <c:idx val="1"/>
          <c:order val="1"/>
          <c:tx>
            <c:strRef>
              <c:f>Sheet1!$C$1</c:f>
              <c:strCache>
                <c:ptCount val="1"/>
                <c:pt idx="0">
                  <c:v>After seeing 30 and 36 arrivals</c:v>
                </c:pt>
              </c:strCache>
            </c:strRef>
          </c:tx>
          <c:spPr>
            <a:solidFill>
              <a:srgbClr val="00868B"/>
            </a:solidFill>
            <a:effectLst/>
          </c:spPr>
          <c:invertIfNegative val="0"/>
          <c:dLbls>
            <c:numFmt formatCode="0" sourceLinked="0"/>
            <c:txPr>
              <a:bodyPr/>
              <a:lstStyle/>
              <a:p>
                <a:pPr>
                  <a:defRPr b="0" i="0" strike="noStrike" sz="900" u="none">
                    <a:solidFill>
                      <a:srgbClr val="1B2A4A"/>
                    </a:solidFill>
                    <a:latin typeface="+mn-lt"/>
                  </a:defRPr>
                </a:pPr>
              </a:p>
            </c:txPr>
            <c:showLegendKey val="0"/>
            <c:showVal val="1"/>
            <c:showCatName val="0"/>
            <c:showSerName val="0"/>
            <c:showPercent val="0"/>
            <c:showBubbleSize val="0"/>
            <c:showLeaderLines val="0"/>
          </c:dLbls>
          <c:cat>
            <c:multiLvlStrRef>
              <c:f>Sheet1!$A$2:$A$7</c:f>
              <c:multiLvlStrCache>
                <c:ptCount val="6"/>
                <c:lvl>
                  <c:pt idx="0">
                    <c:v>13:00</c:v>
                  </c:pt>
                  <c:pt idx="1">
                    <c:v>13:15</c:v>
                  </c:pt>
                  <c:pt idx="2">
                    <c:v>13:30</c:v>
                  </c:pt>
                  <c:pt idx="3">
                    <c:v>13:45</c:v>
                  </c:pt>
                  <c:pt idx="4">
                    <c:v>14:00</c:v>
                  </c:pt>
                  <c:pt idx="5">
                    <c:v>14:15</c:v>
                  </c:pt>
                </c:lvl>
              </c:multiLvlStrCache>
            </c:multiLvlStrRef>
          </c:cat>
          <c:val>
            <c:numRef>
              <c:f>Sheet1!$C$2:$C$7</c:f>
              <c:numCache>
                <c:formatCode>General</c:formatCode>
                <c:ptCount val="6"/>
                <c:pt idx="0">
                  <c:v>82.6</c:v>
                </c:pt>
                <c:pt idx="1">
                  <c:v>86.6</c:v>
                </c:pt>
                <c:pt idx="2">
                  <c:v>57.8</c:v>
                </c:pt>
                <c:pt idx="3">
                  <c:v>25.3</c:v>
                </c:pt>
                <c:pt idx="4">
                  <c:v>2.4</c:v>
                </c:pt>
                <c:pt idx="5">
                  <c:v>0.3</c:v>
                </c:pt>
              </c:numCache>
            </c:numRef>
          </c:val>
        </c:ser>
        <c:dLbls>
          <c:numFmt formatCode="0" sourceLinked="0"/>
          <c:txPr>
            <a:bodyPr/>
            <a:lstStyle/>
            <a:p>
              <a:pPr>
                <a:defRPr b="0" i="0" strike="noStrike" sz="900" u="none">
                  <a:solidFill>
                    <a:srgbClr val="1B2A4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8A94A3"/>
                    </a:solidFill>
                    <a:latin typeface="+mn-lt"/>
                  </a:defRPr>
                </a:pPr>
                <a:r>
                  <a:rPr sz="1000" b="0" i="0" u="none" strike="noStrike">
                    <a:solidFill>
                      <a:srgbClr val="8A94A3"/>
                    </a:solidFill>
                    <a:latin typeface="+mn-lt"/>
                  </a:rPr>
                  <a:t>Remaining slot start time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4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DE3EA"/>
              </a:solidFill>
              <a:prstDash val="solid"/>
              <a:round/>
            </a:ln>
          </c:spPr>
        </c:majorGridlines>
        <c:title>
          <c:tx>
            <c:rich>
              <a:bodyPr/>
              <a:lstStyle/>
              <a:p>
                <a:pPr>
                  <a:defRPr sz="1000" b="0" i="0" u="none" strike="noStrike">
                    <a:solidFill>
                      <a:srgbClr val="8A94A3"/>
                    </a:solidFill>
                    <a:latin typeface="+mn-lt"/>
                  </a:defRPr>
                </a:pPr>
                <a:r>
                  <a:rPr sz="1000" b="0" i="0" u="none" strike="noStrike">
                    <a:solidFill>
                      <a:srgbClr val="8A94A3"/>
                    </a:solidFill>
                    <a:latin typeface="+mn-lt"/>
                  </a:rPr>
                  <a:t>P(X &gt; 30), %</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1B2A4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1B2A4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title. Faraz Akhtar Khan is the team in-charge. The project estimates the probability that canteen arrivals exceed capacity in each 15-minute slot and predicts when the peak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motivation: short intervals, sudden rushes. Capacity C is a project decision (30 per 15-minute slot) and can be changed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to 4 are the original review-1 scope. Objectives 5 and 6 are the extension: predicting the peak time and validating the forecasts on unseen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Eighteen papers were reviewed. These four gaps are gaps of focus and application, not a claim that Poisson modelling of arrivals is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collection is in progress. All methods re-estimate everything from the counts, so they apply unchanged when the real counts replace the synthetic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left to right. Every step uses a technique from the PAMAT501 syllabus; 24 components are mapped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Poisson for counts in a short interval; maximum-likelihood estimate is the sample mean. The Poisson–Gamma mixture comes from the theorem of total probability and allows busier or quieter whole days. The Bayesian update uses the Gamma prior's conjugacy.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the sample mean of 90 days for that slot. The exact confidence intervals are narrow (about ±1.2), so the peak is well determined.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Chi-square goodness-of-fit test per slot, plus the index-of-dispersion test. A binomial check guards against multiple testing: with 8 tests, about 0.4 rejections are expected by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P(X &gt; C) = 1 − P(X ≤ C) with λ̂ from each slot. Across the confidence interval for λ, the peak slot's risk ranges from about 67% to 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who can choose should eat after 14:15: only about 0.08% chance of overload, against 74% at the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linear regression with dummy variables. Friday is about 9% quieter and exam weeks about 11% quieter. These effects drive the day-specific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Per-slot tests pass, but pooling across slots reveals mild overdispersion. The negative binomial (Poisson–Gamma) model handles it and is used for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20,000 simulated Mondays: draw the busyness factor W from the Gamma distribution, then Poisson counts for each slot, and record which slot is largest.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use: by 13:00 the canteen manager can see whether today is running hot and open an extra counter before the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Rolling-origin backtest with an expanding window. Tests used: z-test of a proportion, paired t-test, sign test, Kolmogorov–Smirnov and chi-square on PIT values, Pearson and Spearman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combination: a tested per-slot Poisson model, a day-specific peak forecast with an intraday update, and validation on unseen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if time permits: change the day, toggle exam week, change capacity, and show the same-day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practical message: avoid 13:00–13:30, open an extra counter when the early counts run high, and collect real counts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list of 25 references is in the R Markdown report and the IEEE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B2A4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FD4D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chemeClr val="accent6"/>
                </a:solidFill>
              </a:rPr>
              <a:t>PAMAT501 · Canteen arrival overload probability</a:t>
            </a:r>
            <a:endParaRPr lang="en-US" sz="900" dirty="0"/>
          </a:p>
        </p:txBody>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FD4D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457200"/>
            <a:ext cx="8046720" cy="274320"/>
          </a:xfrm>
          <a:prstGeom prst="rect">
            <a:avLst/>
          </a:prstGeom>
          <a:noFill/>
          <a:ln/>
        </p:spPr>
        <p:txBody>
          <a:bodyPr wrap="square" lIns="0" tIns="0" rIns="0" bIns="0" rtlCol="0" anchor="t"/>
          <a:lstStyle/>
          <a:p>
            <a:pPr indent="0" marL="0">
              <a:buNone/>
            </a:pPr>
            <a:r>
              <a:rPr lang="en-US" sz="1100" b="1" spc="200" kern="0" dirty="0">
                <a:solidFill>
                  <a:srgbClr val="9FD4D6"/>
                </a:solidFill>
              </a:rPr>
              <a:t>PAMAT501 · PROBABILITY AND STATISTICS · COURSE-BASED PROJECT</a:t>
            </a:r>
            <a:endParaRPr lang="en-US" sz="1100" dirty="0"/>
          </a:p>
        </p:txBody>
      </p:sp>
      <p:sp>
        <p:nvSpPr>
          <p:cNvPr id="3" name="title"/>
          <p:cNvSpPr txBox="1"/>
          <p:nvPr/>
        </p:nvSpPr>
        <p:spPr>
          <a:xfrm>
            <a:off x="548640" y="822960"/>
            <a:ext cx="7863840" cy="13716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Statistical Estimation of Canteen Arrival Overload Probability Using Poisson Distribution</a:t>
            </a:r>
            <a:endParaRPr lang="en-US" sz="3000" dirty="0"/>
          </a:p>
        </p:txBody>
      </p:sp>
      <p:sp>
        <p:nvSpPr>
          <p:cNvPr id="4" name="subtitle"/>
          <p:cNvSpPr txBox="1"/>
          <p:nvPr/>
        </p:nvSpPr>
        <p:spPr>
          <a:xfrm>
            <a:off x="548640" y="2377440"/>
            <a:ext cx="7863840" cy="365760"/>
          </a:xfrm>
          <a:prstGeom prst="rect">
            <a:avLst/>
          </a:prstGeom>
          <a:noFill/>
          <a:ln/>
        </p:spPr>
        <p:txBody>
          <a:bodyPr wrap="square" lIns="0" tIns="0" rIns="0" bIns="0" rtlCol="0" anchor="t"/>
          <a:lstStyle/>
          <a:p>
            <a:pPr indent="0" marL="0">
              <a:buNone/>
            </a:pPr>
            <a:r>
              <a:rPr lang="en-US" sz="1600" i="1" dirty="0">
                <a:solidFill>
                  <a:srgbClr val="9FD4D6"/>
                </a:solidFill>
              </a:rPr>
              <a:t>Predicting when the lunch peak happens and how likely it is to overwhelm the counters</a:t>
            </a:r>
            <a:endParaRPr lang="en-US" sz="1600" dirty="0"/>
          </a:p>
        </p:txBody>
      </p:sp>
      <p:sp>
        <p:nvSpPr>
          <p:cNvPr id="5" name="team card 1"/>
          <p:cNvSpPr/>
          <p:nvPr/>
        </p:nvSpPr>
        <p:spPr>
          <a:xfrm>
            <a:off x="548640" y="3017520"/>
            <a:ext cx="2514600" cy="914400"/>
          </a:xfrm>
          <a:prstGeom prst="roundRect">
            <a:avLst>
              <a:gd name="adj" fmla="val 8000"/>
            </a:avLst>
          </a:prstGeom>
          <a:solidFill>
            <a:srgbClr val="0F1A30"/>
          </a:solidFill>
          <a:ln/>
        </p:spPr>
      </p:sp>
      <p:sp>
        <p:nvSpPr>
          <p:cNvPr id="6" name="member name 1"/>
          <p:cNvSpPr txBox="1"/>
          <p:nvPr/>
        </p:nvSpPr>
        <p:spPr>
          <a:xfrm>
            <a:off x="731520" y="3127248"/>
            <a:ext cx="2194560" cy="320040"/>
          </a:xfrm>
          <a:prstGeom prst="rect">
            <a:avLst/>
          </a:prstGeom>
          <a:noFill/>
          <a:ln/>
        </p:spPr>
        <p:txBody>
          <a:bodyPr wrap="square" lIns="0" tIns="0" rIns="0" bIns="0" rtlCol="0" anchor="t"/>
          <a:lstStyle/>
          <a:p>
            <a:pPr indent="0" marL="0">
              <a:buNone/>
            </a:pPr>
            <a:r>
              <a:rPr lang="en-US" sz="1500" b="1" dirty="0">
                <a:solidFill>
                  <a:srgbClr val="FFFFFF"/>
                </a:solidFill>
              </a:rPr>
              <a:t>Faraz Akhtar Khan</a:t>
            </a:r>
            <a:endParaRPr lang="en-US" sz="1500" dirty="0"/>
          </a:p>
        </p:txBody>
      </p:sp>
      <p:sp>
        <p:nvSpPr>
          <p:cNvPr id="7" name="member reg 1"/>
          <p:cNvSpPr txBox="1"/>
          <p:nvPr/>
        </p:nvSpPr>
        <p:spPr>
          <a:xfrm>
            <a:off x="731520" y="3474720"/>
            <a:ext cx="2194560" cy="274320"/>
          </a:xfrm>
          <a:prstGeom prst="rect">
            <a:avLst/>
          </a:prstGeom>
          <a:noFill/>
          <a:ln/>
        </p:spPr>
        <p:txBody>
          <a:bodyPr wrap="square" lIns="0" tIns="0" rIns="0" bIns="0" rtlCol="0" anchor="t"/>
          <a:lstStyle/>
          <a:p>
            <a:pPr indent="0" marL="0">
              <a:buNone/>
            </a:pPr>
            <a:r>
              <a:rPr lang="en-US" sz="1200" b="1" dirty="0">
                <a:solidFill>
                  <a:srgbClr val="9FD4D6"/>
                </a:solidFill>
              </a:rPr>
              <a:t>26MCA0197 · Team in-charge</a:t>
            </a:r>
            <a:endParaRPr lang="en-US" sz="1200" dirty="0"/>
          </a:p>
        </p:txBody>
      </p:sp>
      <p:sp>
        <p:nvSpPr>
          <p:cNvPr id="8" name="team card 2"/>
          <p:cNvSpPr/>
          <p:nvPr/>
        </p:nvSpPr>
        <p:spPr>
          <a:xfrm>
            <a:off x="3246120" y="3017520"/>
            <a:ext cx="2514600" cy="914400"/>
          </a:xfrm>
          <a:prstGeom prst="roundRect">
            <a:avLst>
              <a:gd name="adj" fmla="val 8000"/>
            </a:avLst>
          </a:prstGeom>
          <a:solidFill>
            <a:srgbClr val="0F1A30"/>
          </a:solidFill>
          <a:ln/>
        </p:spPr>
      </p:sp>
      <p:sp>
        <p:nvSpPr>
          <p:cNvPr id="9" name="member name 2"/>
          <p:cNvSpPr txBox="1"/>
          <p:nvPr/>
        </p:nvSpPr>
        <p:spPr>
          <a:xfrm>
            <a:off x="3429000" y="3127248"/>
            <a:ext cx="2194560" cy="320040"/>
          </a:xfrm>
          <a:prstGeom prst="rect">
            <a:avLst/>
          </a:prstGeom>
          <a:noFill/>
          <a:ln/>
        </p:spPr>
        <p:txBody>
          <a:bodyPr wrap="square" lIns="0" tIns="0" rIns="0" bIns="0" rtlCol="0" anchor="t"/>
          <a:lstStyle/>
          <a:p>
            <a:pPr indent="0" marL="0">
              <a:buNone/>
            </a:pPr>
            <a:r>
              <a:rPr lang="en-US" sz="1500" b="1" dirty="0">
                <a:solidFill>
                  <a:srgbClr val="FFFFFF"/>
                </a:solidFill>
              </a:rPr>
              <a:t>Mayur Krishna</a:t>
            </a:r>
            <a:endParaRPr lang="en-US" sz="1500" dirty="0"/>
          </a:p>
        </p:txBody>
      </p:sp>
      <p:sp>
        <p:nvSpPr>
          <p:cNvPr id="10" name="member reg 2"/>
          <p:cNvSpPr txBox="1"/>
          <p:nvPr/>
        </p:nvSpPr>
        <p:spPr>
          <a:xfrm>
            <a:off x="3429000" y="3474720"/>
            <a:ext cx="2194560" cy="274320"/>
          </a:xfrm>
          <a:prstGeom prst="rect">
            <a:avLst/>
          </a:prstGeom>
          <a:noFill/>
          <a:ln/>
        </p:spPr>
        <p:txBody>
          <a:bodyPr wrap="square" lIns="0" tIns="0" rIns="0" bIns="0" rtlCol="0" anchor="t"/>
          <a:lstStyle/>
          <a:p>
            <a:pPr indent="0" marL="0">
              <a:buNone/>
            </a:pPr>
            <a:r>
              <a:rPr lang="en-US" sz="1200" dirty="0">
                <a:solidFill>
                  <a:srgbClr val="C9D3DE"/>
                </a:solidFill>
              </a:rPr>
              <a:t>26MCA0191 · Team member</a:t>
            </a:r>
            <a:endParaRPr lang="en-US" sz="1200" dirty="0"/>
          </a:p>
        </p:txBody>
      </p:sp>
      <p:sp>
        <p:nvSpPr>
          <p:cNvPr id="11" name="team card 3"/>
          <p:cNvSpPr/>
          <p:nvPr/>
        </p:nvSpPr>
        <p:spPr>
          <a:xfrm>
            <a:off x="5943600" y="3017520"/>
            <a:ext cx="2514600" cy="914400"/>
          </a:xfrm>
          <a:prstGeom prst="roundRect">
            <a:avLst>
              <a:gd name="adj" fmla="val 8000"/>
            </a:avLst>
          </a:prstGeom>
          <a:solidFill>
            <a:srgbClr val="0F1A30"/>
          </a:solidFill>
          <a:ln/>
        </p:spPr>
      </p:sp>
      <p:sp>
        <p:nvSpPr>
          <p:cNvPr id="12" name="member name 3"/>
          <p:cNvSpPr txBox="1"/>
          <p:nvPr/>
        </p:nvSpPr>
        <p:spPr>
          <a:xfrm>
            <a:off x="6126480" y="3127248"/>
            <a:ext cx="2194560" cy="320040"/>
          </a:xfrm>
          <a:prstGeom prst="rect">
            <a:avLst/>
          </a:prstGeom>
          <a:noFill/>
          <a:ln/>
        </p:spPr>
        <p:txBody>
          <a:bodyPr wrap="square" lIns="0" tIns="0" rIns="0" bIns="0" rtlCol="0" anchor="t"/>
          <a:lstStyle/>
          <a:p>
            <a:pPr indent="0" marL="0">
              <a:buNone/>
            </a:pPr>
            <a:r>
              <a:rPr lang="en-US" sz="1500" b="1" dirty="0">
                <a:solidFill>
                  <a:srgbClr val="FFFFFF"/>
                </a:solidFill>
              </a:rPr>
              <a:t>Malhar Bhosale</a:t>
            </a:r>
            <a:endParaRPr lang="en-US" sz="1500" dirty="0"/>
          </a:p>
        </p:txBody>
      </p:sp>
      <p:sp>
        <p:nvSpPr>
          <p:cNvPr id="13" name="member reg 3"/>
          <p:cNvSpPr txBox="1"/>
          <p:nvPr/>
        </p:nvSpPr>
        <p:spPr>
          <a:xfrm>
            <a:off x="6126480" y="3474720"/>
            <a:ext cx="2194560" cy="274320"/>
          </a:xfrm>
          <a:prstGeom prst="rect">
            <a:avLst/>
          </a:prstGeom>
          <a:noFill/>
          <a:ln/>
        </p:spPr>
        <p:txBody>
          <a:bodyPr wrap="square" lIns="0" tIns="0" rIns="0" bIns="0" rtlCol="0" anchor="t"/>
          <a:lstStyle/>
          <a:p>
            <a:pPr indent="0" marL="0">
              <a:buNone/>
            </a:pPr>
            <a:r>
              <a:rPr lang="en-US" sz="1200" dirty="0">
                <a:solidFill>
                  <a:srgbClr val="C9D3DE"/>
                </a:solidFill>
              </a:rPr>
              <a:t>26MCA0199 · Team member</a:t>
            </a:r>
            <a:endParaRPr lang="en-US" sz="1200" dirty="0"/>
          </a:p>
        </p:txBody>
      </p:sp>
      <p:sp>
        <p:nvSpPr>
          <p:cNvPr id="14" name="faculty"/>
          <p:cNvSpPr txBox="1"/>
          <p:nvPr/>
        </p:nvSpPr>
        <p:spPr>
          <a:xfrm>
            <a:off x="548640" y="4206240"/>
            <a:ext cx="7863840" cy="274320"/>
          </a:xfrm>
          <a:prstGeom prst="rect">
            <a:avLst/>
          </a:prstGeom>
          <a:noFill/>
          <a:ln/>
        </p:spPr>
        <p:txBody>
          <a:bodyPr wrap="square" lIns="0" tIns="0" rIns="0" bIns="0" rtlCol="0" anchor="t"/>
          <a:lstStyle/>
          <a:p>
            <a:pPr indent="0" marL="0">
              <a:buNone/>
            </a:pPr>
            <a:r>
              <a:rPr lang="en-US" sz="1200" dirty="0">
                <a:solidFill>
                  <a:srgbClr val="C9D3DE"/>
                </a:solidFill>
              </a:rPr>
              <a:t>Faculty: Dr. Manimaran A, School of Advanced Sciences, VIT Vellore</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FD4D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Lunch arrivals pile into a few minutes</a:t>
            </a:r>
            <a:endParaRPr lang="en-US" sz="2800" dirty="0"/>
          </a:p>
        </p:txBody>
      </p:sp>
      <p:sp>
        <p:nvSpPr>
          <p:cNvPr id="3" name="problem text"/>
          <p:cNvSpPr txBox="1"/>
          <p:nvPr/>
        </p:nvSpPr>
        <p:spPr>
          <a:xfrm>
            <a:off x="457200" y="1188720"/>
            <a:ext cx="4206240" cy="3291840"/>
          </a:xfrm>
          <a:prstGeom prst="rect">
            <a:avLst/>
          </a:prstGeom>
          <a:noFill/>
          <a:ln/>
        </p:spPr>
        <p:txBody>
          <a:bodyPr wrap="square" lIns="0" tIns="0" rIns="0" bIns="0" rtlCol="0" anchor="t"/>
          <a:lstStyle/>
          <a:p>
            <a:pPr indent="0" marL="0">
              <a:spcAft>
                <a:spcPts val="1000"/>
              </a:spcAft>
              <a:buNone/>
            </a:pPr>
            <a:r>
              <a:rPr lang="en-US" sz="1500" dirty="0">
                <a:solidFill>
                  <a:schemeClr val="tx1"/>
                </a:solidFill>
              </a:rPr>
              <a:t>Every day the canteen sees a short, sharp rush. When more students arrive in 15 minutes than the counters can serve, queues form and food runs out.</a:t>
            </a:r>
            <a:endParaRPr lang="en-US" sz="1500" dirty="0"/>
          </a:p>
          <a:p>
            <a:pPr indent="0" marL="0">
              <a:spcAft>
                <a:spcPts val="1000"/>
              </a:spcAft>
              <a:buNone/>
            </a:pPr>
            <a:r>
              <a:rPr lang="en-US" sz="1500" dirty="0">
                <a:solidFill>
                  <a:schemeClr val="tx1"/>
                </a:solidFill>
              </a:rPr>
              <a:t>Today, decisions about when to eat or how many counters to open are made by guesswork.</a:t>
            </a:r>
            <a:endParaRPr lang="en-US" sz="1500" dirty="0"/>
          </a:p>
          <a:p>
            <a:pPr indent="0" marL="0">
              <a:buNone/>
            </a:pPr>
            <a:r>
              <a:rPr lang="en-US" sz="1500" b="1" dirty="0">
                <a:solidFill>
                  <a:schemeClr val="accent1"/>
                </a:solidFill>
              </a:rPr>
              <a:t>Our question</a:t>
            </a:r>
            <a:endParaRPr lang="en-US" sz="1500" dirty="0"/>
          </a:p>
          <a:p>
            <a:pPr indent="0" marL="0">
              <a:buNone/>
            </a:pPr>
            <a:r>
              <a:rPr lang="en-US" sz="1500" i="1" dirty="0">
                <a:solidFill>
                  <a:schemeClr val="tx1"/>
                </a:solidFill>
              </a:rPr>
              <a:t>What is the probability that arrivals exceed capacity in a given slot, and when will today's peak occur?</a:t>
            </a:r>
            <a:endParaRPr lang="en-US" sz="1500" dirty="0"/>
          </a:p>
        </p:txBody>
      </p:sp>
      <p:sp>
        <p:nvSpPr>
          <p:cNvPr id="4" name="stat panel"/>
          <p:cNvSpPr/>
          <p:nvPr/>
        </p:nvSpPr>
        <p:spPr>
          <a:xfrm>
            <a:off x="5029200" y="1188720"/>
            <a:ext cx="3657600" cy="3291840"/>
          </a:xfrm>
          <a:prstGeom prst="roundRect">
            <a:avLst>
              <a:gd name="adj" fmla="val 2222"/>
            </a:avLst>
          </a:prstGeom>
          <a:solidFill>
            <a:schemeClr val="bg2"/>
          </a:solidFill>
          <a:ln/>
        </p:spPr>
      </p:sp>
      <p:sp>
        <p:nvSpPr>
          <p:cNvPr id="5" name="slots value"/>
          <p:cNvSpPr txBox="1"/>
          <p:nvPr/>
        </p:nvSpPr>
        <p:spPr>
          <a:xfrm>
            <a:off x="5303520" y="1371600"/>
            <a:ext cx="320040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8 slots</a:t>
            </a:r>
            <a:endParaRPr lang="en-US" sz="3200" dirty="0"/>
          </a:p>
        </p:txBody>
      </p:sp>
      <p:sp>
        <p:nvSpPr>
          <p:cNvPr id="6" name="slots label"/>
          <p:cNvSpPr txBox="1"/>
          <p:nvPr/>
        </p:nvSpPr>
        <p:spPr>
          <a:xfrm>
            <a:off x="5303520" y="1938528"/>
            <a:ext cx="3200400" cy="502920"/>
          </a:xfrm>
          <a:prstGeom prst="rect">
            <a:avLst/>
          </a:prstGeom>
          <a:noFill/>
          <a:ln/>
        </p:spPr>
        <p:txBody>
          <a:bodyPr wrap="square" lIns="0" tIns="0" rIns="0" bIns="0" rtlCol="0" anchor="t"/>
          <a:lstStyle/>
          <a:p>
            <a:pPr indent="0" marL="0">
              <a:buNone/>
            </a:pPr>
            <a:r>
              <a:rPr lang="en-US" sz="1200" dirty="0">
                <a:solidFill>
                  <a:schemeClr val="tx1"/>
                </a:solidFill>
              </a:rPr>
              <a:t>15-minute slots from 12:30 to 14:30</a:t>
            </a:r>
            <a:endParaRPr lang="en-US" sz="1200" dirty="0"/>
          </a:p>
        </p:txBody>
      </p:sp>
      <p:sp>
        <p:nvSpPr>
          <p:cNvPr id="7" name="capacity value"/>
          <p:cNvSpPr txBox="1"/>
          <p:nvPr/>
        </p:nvSpPr>
        <p:spPr>
          <a:xfrm>
            <a:off x="5303520" y="2377440"/>
            <a:ext cx="320040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C = 30</a:t>
            </a:r>
            <a:endParaRPr lang="en-US" sz="3200" dirty="0"/>
          </a:p>
        </p:txBody>
      </p:sp>
      <p:sp>
        <p:nvSpPr>
          <p:cNvPr id="8" name="capacity label"/>
          <p:cNvSpPr txBox="1"/>
          <p:nvPr/>
        </p:nvSpPr>
        <p:spPr>
          <a:xfrm>
            <a:off x="5303520" y="2944368"/>
            <a:ext cx="3200400" cy="502920"/>
          </a:xfrm>
          <a:prstGeom prst="rect">
            <a:avLst/>
          </a:prstGeom>
          <a:noFill/>
          <a:ln/>
        </p:spPr>
        <p:txBody>
          <a:bodyPr wrap="square" lIns="0" tIns="0" rIns="0" bIns="0" rtlCol="0" anchor="t"/>
          <a:lstStyle/>
          <a:p>
            <a:pPr indent="0" marL="0">
              <a:buNone/>
            </a:pPr>
            <a:r>
              <a:rPr lang="en-US" sz="1200" dirty="0">
                <a:solidFill>
                  <a:schemeClr val="tx1"/>
                </a:solidFill>
              </a:rPr>
              <a:t>students per slot the counters can serve (capacity)</a:t>
            </a:r>
            <a:endParaRPr lang="en-US" sz="1200" dirty="0"/>
          </a:p>
        </p:txBody>
      </p:sp>
      <p:sp>
        <p:nvSpPr>
          <p:cNvPr id="9" name="overload value"/>
          <p:cNvSpPr txBox="1"/>
          <p:nvPr/>
        </p:nvSpPr>
        <p:spPr>
          <a:xfrm>
            <a:off x="5303520" y="3383280"/>
            <a:ext cx="3200400" cy="548640"/>
          </a:xfrm>
          <a:prstGeom prst="rect">
            <a:avLst/>
          </a:prstGeom>
          <a:noFill/>
          <a:ln/>
        </p:spPr>
        <p:txBody>
          <a:bodyPr wrap="square" lIns="0" tIns="0" rIns="0" bIns="0" rtlCol="0" anchor="t"/>
          <a:lstStyle/>
          <a:p>
            <a:pPr indent="0" marL="0">
              <a:buNone/>
            </a:pPr>
            <a:r>
              <a:rPr lang="en-US" sz="3200" b="1" dirty="0">
                <a:solidFill>
                  <a:schemeClr val="accent3"/>
                </a:solidFill>
                <a:latin typeface="Cambria" pitchFamily="34" charset="0"/>
                <a:ea typeface="Cambria" pitchFamily="34" charset="-122"/>
                <a:cs typeface="Cambria" pitchFamily="34" charset="-120"/>
              </a:rPr>
              <a:t>P(X &gt; C)</a:t>
            </a:r>
            <a:endParaRPr lang="en-US" sz="3200" dirty="0"/>
          </a:p>
        </p:txBody>
      </p:sp>
      <p:sp>
        <p:nvSpPr>
          <p:cNvPr id="10" name="overload label"/>
          <p:cNvSpPr txBox="1"/>
          <p:nvPr/>
        </p:nvSpPr>
        <p:spPr>
          <a:xfrm>
            <a:off x="5303520" y="3950208"/>
            <a:ext cx="3200400" cy="502920"/>
          </a:xfrm>
          <a:prstGeom prst="rect">
            <a:avLst/>
          </a:prstGeom>
          <a:noFill/>
          <a:ln/>
        </p:spPr>
        <p:txBody>
          <a:bodyPr wrap="square" lIns="0" tIns="0" rIns="0" bIns="0" rtlCol="0" anchor="t"/>
          <a:lstStyle/>
          <a:p>
            <a:pPr indent="0" marL="0">
              <a:buNone/>
            </a:pPr>
            <a:r>
              <a:rPr lang="en-US" sz="1200" dirty="0">
                <a:solidFill>
                  <a:schemeClr val="tx1"/>
                </a:solidFill>
              </a:rPr>
              <a:t>the overload probability we estimate for every slot</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Aim and objectives</a:t>
            </a:r>
            <a:endParaRPr lang="en-US" sz="2800" dirty="0"/>
          </a:p>
        </p:txBody>
      </p:sp>
      <p:sp>
        <p:nvSpPr>
          <p:cNvPr id="3" name="aim"/>
          <p:cNvSpPr txBox="1"/>
          <p:nvPr/>
        </p:nvSpPr>
        <p:spPr>
          <a:xfrm>
            <a:off x="457200" y="1051560"/>
            <a:ext cx="8229600" cy="594360"/>
          </a:xfrm>
          <a:prstGeom prst="rect">
            <a:avLst/>
          </a:prstGeom>
          <a:noFill/>
          <a:ln/>
        </p:spPr>
        <p:txBody>
          <a:bodyPr wrap="square" lIns="0" tIns="0" rIns="0" bIns="0" rtlCol="0" anchor="t"/>
          <a:lstStyle/>
          <a:p>
            <a:pPr indent="0" marL="0">
              <a:buNone/>
            </a:pPr>
            <a:r>
              <a:rPr lang="en-US" sz="1400" b="1" dirty="0">
                <a:solidFill>
                  <a:schemeClr val="accent1"/>
                </a:solidFill>
              </a:rPr>
              <a:t>Aim: </a:t>
            </a:r>
            <a:pPr indent="0" marL="0">
              <a:buNone/>
            </a:pPr>
            <a:r>
              <a:rPr lang="en-US" sz="1400" dirty="0">
                <a:solidFill>
                  <a:schemeClr val="tx1"/>
                </a:solidFill>
              </a:rPr>
              <a:t>estimate, for each short slot of the lunch period, the probability that arrivals exceed serving capacity, and predict when the day's peak will occur, using Poisson models that are tested against the data.</a:t>
            </a:r>
            <a:endParaRPr lang="en-US" sz="1400" dirty="0"/>
          </a:p>
        </p:txBody>
      </p:sp>
      <p:sp>
        <p:nvSpPr>
          <p:cNvPr id="4" name="objective card 1"/>
          <p:cNvSpPr/>
          <p:nvPr/>
        </p:nvSpPr>
        <p:spPr>
          <a:xfrm>
            <a:off x="457200" y="1828800"/>
            <a:ext cx="2606040" cy="1234440"/>
          </a:xfrm>
          <a:prstGeom prst="roundRect">
            <a:avLst>
              <a:gd name="adj" fmla="val 5926"/>
            </a:avLst>
          </a:prstGeom>
          <a:solidFill>
            <a:schemeClr val="bg2"/>
          </a:solidFill>
          <a:ln/>
        </p:spPr>
      </p:sp>
      <p:sp>
        <p:nvSpPr>
          <p:cNvPr id="5" name="objective icon 1 circle"/>
          <p:cNvSpPr/>
          <p:nvPr/>
        </p:nvSpPr>
        <p:spPr>
          <a:xfrm>
            <a:off x="640080" y="2011680"/>
            <a:ext cx="411480" cy="411480"/>
          </a:xfrm>
          <a:prstGeom prst="ellipse">
            <a:avLst/>
          </a:prstGeom>
          <a:solidFill>
            <a:schemeClr val="accent1"/>
          </a:solidFill>
          <a:ln/>
        </p:spPr>
      </p:sp>
      <p:pic>
        <p:nvPicPr>
          <p:cNvPr id="6" name="objective icon 1" descr="preencoded.png">    </p:cNvPr>
          <p:cNvPicPr>
            <a:picLocks noChangeAspect="1"/>
          </p:cNvPicPr>
          <p:nvPr/>
        </p:nvPicPr>
        <p:blipFill>
          <a:blip r:embed="rId1"/>
          <a:stretch>
            <a:fillRect/>
          </a:stretch>
        </p:blipFill>
        <p:spPr>
          <a:xfrm>
            <a:off x="742950" y="2114550"/>
            <a:ext cx="205740" cy="205740"/>
          </a:xfrm>
          <a:prstGeom prst="rect">
            <a:avLst/>
          </a:prstGeom>
        </p:spPr>
      </p:pic>
      <p:sp>
        <p:nvSpPr>
          <p:cNvPr id="7" name="objective title 1"/>
          <p:cNvSpPr txBox="1"/>
          <p:nvPr/>
        </p:nvSpPr>
        <p:spPr>
          <a:xfrm>
            <a:off x="1188720" y="2029968"/>
            <a:ext cx="1783080" cy="365760"/>
          </a:xfrm>
          <a:prstGeom prst="rect">
            <a:avLst/>
          </a:prstGeom>
          <a:noFill/>
          <a:ln/>
        </p:spPr>
        <p:txBody>
          <a:bodyPr wrap="square" lIns="0" tIns="0" rIns="0" bIns="0" rtlCol="0" anchor="ctr"/>
          <a:lstStyle/>
          <a:p>
            <a:pPr indent="0" marL="0">
              <a:buNone/>
            </a:pPr>
            <a:r>
              <a:rPr lang="en-US" sz="1400" b="1" dirty="0">
                <a:solidFill>
                  <a:schemeClr val="tx1"/>
                </a:solidFill>
              </a:rPr>
              <a:t>1. Collect and clean</a:t>
            </a:r>
            <a:endParaRPr lang="en-US" sz="1400" dirty="0"/>
          </a:p>
        </p:txBody>
      </p:sp>
      <p:sp>
        <p:nvSpPr>
          <p:cNvPr id="8" name="objective text 1"/>
          <p:cNvSpPr txBox="1"/>
          <p:nvPr/>
        </p:nvSpPr>
        <p:spPr>
          <a:xfrm>
            <a:off x="640080" y="2514600"/>
            <a:ext cx="2286000" cy="502920"/>
          </a:xfrm>
          <a:prstGeom prst="rect">
            <a:avLst/>
          </a:prstGeom>
          <a:noFill/>
          <a:ln/>
        </p:spPr>
        <p:txBody>
          <a:bodyPr wrap="square" lIns="0" tIns="0" rIns="0" bIns="0" rtlCol="0" anchor="t"/>
          <a:lstStyle/>
          <a:p>
            <a:pPr indent="0" marL="0">
              <a:buNone/>
            </a:pPr>
            <a:r>
              <a:rPr lang="en-US" sz="1100" dirty="0">
                <a:solidFill>
                  <a:schemeClr val="tx1"/>
                </a:solidFill>
              </a:rPr>
              <a:t>Arrival counts in fixed 15-minute slots across working days</a:t>
            </a:r>
            <a:endParaRPr lang="en-US" sz="1100" dirty="0"/>
          </a:p>
        </p:txBody>
      </p:sp>
      <p:sp>
        <p:nvSpPr>
          <p:cNvPr id="9" name="objective card 2"/>
          <p:cNvSpPr/>
          <p:nvPr/>
        </p:nvSpPr>
        <p:spPr>
          <a:xfrm>
            <a:off x="3246120" y="1828800"/>
            <a:ext cx="2606040" cy="1234440"/>
          </a:xfrm>
          <a:prstGeom prst="roundRect">
            <a:avLst>
              <a:gd name="adj" fmla="val 5926"/>
            </a:avLst>
          </a:prstGeom>
          <a:solidFill>
            <a:schemeClr val="bg2"/>
          </a:solidFill>
          <a:ln/>
        </p:spPr>
      </p:sp>
      <p:sp>
        <p:nvSpPr>
          <p:cNvPr id="10" name="objective icon 2 circle"/>
          <p:cNvSpPr/>
          <p:nvPr/>
        </p:nvSpPr>
        <p:spPr>
          <a:xfrm>
            <a:off x="3429000" y="2011680"/>
            <a:ext cx="411480" cy="411480"/>
          </a:xfrm>
          <a:prstGeom prst="ellipse">
            <a:avLst/>
          </a:prstGeom>
          <a:solidFill>
            <a:schemeClr val="accent1"/>
          </a:solidFill>
          <a:ln/>
        </p:spPr>
      </p:sp>
      <p:pic>
        <p:nvPicPr>
          <p:cNvPr id="11" name="objective icon 2" descr="preencoded.png">    </p:cNvPr>
          <p:cNvPicPr>
            <a:picLocks noChangeAspect="1"/>
          </p:cNvPicPr>
          <p:nvPr/>
        </p:nvPicPr>
        <p:blipFill>
          <a:blip r:embed="rId2"/>
          <a:stretch>
            <a:fillRect/>
          </a:stretch>
        </p:blipFill>
        <p:spPr>
          <a:xfrm>
            <a:off x="3531870" y="2114550"/>
            <a:ext cx="205740" cy="205740"/>
          </a:xfrm>
          <a:prstGeom prst="rect">
            <a:avLst/>
          </a:prstGeom>
        </p:spPr>
      </p:pic>
      <p:sp>
        <p:nvSpPr>
          <p:cNvPr id="12" name="objective title 2"/>
          <p:cNvSpPr txBox="1"/>
          <p:nvPr/>
        </p:nvSpPr>
        <p:spPr>
          <a:xfrm>
            <a:off x="3977640" y="2029968"/>
            <a:ext cx="1783080" cy="365760"/>
          </a:xfrm>
          <a:prstGeom prst="rect">
            <a:avLst/>
          </a:prstGeom>
          <a:noFill/>
          <a:ln/>
        </p:spPr>
        <p:txBody>
          <a:bodyPr wrap="square" lIns="0" tIns="0" rIns="0" bIns="0" rtlCol="0" anchor="ctr"/>
          <a:lstStyle/>
          <a:p>
            <a:pPr indent="0" marL="0">
              <a:buNone/>
            </a:pPr>
            <a:r>
              <a:rPr lang="en-US" sz="1400" b="1" dirty="0">
                <a:solidFill>
                  <a:schemeClr val="tx1"/>
                </a:solidFill>
              </a:rPr>
              <a:t>2. Estimate rates</a:t>
            </a:r>
            <a:endParaRPr lang="en-US" sz="1400" dirty="0"/>
          </a:p>
        </p:txBody>
      </p:sp>
      <p:sp>
        <p:nvSpPr>
          <p:cNvPr id="13" name="objective text 2"/>
          <p:cNvSpPr txBox="1"/>
          <p:nvPr/>
        </p:nvSpPr>
        <p:spPr>
          <a:xfrm>
            <a:off x="3429000" y="2514600"/>
            <a:ext cx="2286000" cy="502920"/>
          </a:xfrm>
          <a:prstGeom prst="rect">
            <a:avLst/>
          </a:prstGeom>
          <a:noFill/>
          <a:ln/>
        </p:spPr>
        <p:txBody>
          <a:bodyPr wrap="square" lIns="0" tIns="0" rIns="0" bIns="0" rtlCol="0" anchor="t"/>
          <a:lstStyle/>
          <a:p>
            <a:pPr indent="0" marL="0">
              <a:buNone/>
            </a:pPr>
            <a:r>
              <a:rPr lang="en-US" sz="1100" dirty="0">
                <a:solidFill>
                  <a:schemeClr val="tx1"/>
                </a:solidFill>
              </a:rPr>
              <a:t>Mean rate λ per slot with an exact confidence interval; test the Poisson fit</a:t>
            </a:r>
            <a:endParaRPr lang="en-US" sz="1100" dirty="0"/>
          </a:p>
        </p:txBody>
      </p:sp>
      <p:sp>
        <p:nvSpPr>
          <p:cNvPr id="14" name="objective card 3"/>
          <p:cNvSpPr/>
          <p:nvPr/>
        </p:nvSpPr>
        <p:spPr>
          <a:xfrm>
            <a:off x="6035040" y="1828800"/>
            <a:ext cx="2606040" cy="1234440"/>
          </a:xfrm>
          <a:prstGeom prst="roundRect">
            <a:avLst>
              <a:gd name="adj" fmla="val 5926"/>
            </a:avLst>
          </a:prstGeom>
          <a:solidFill>
            <a:schemeClr val="bg2"/>
          </a:solidFill>
          <a:ln/>
        </p:spPr>
      </p:sp>
      <p:sp>
        <p:nvSpPr>
          <p:cNvPr id="15" name="objective icon 3 circle"/>
          <p:cNvSpPr/>
          <p:nvPr/>
        </p:nvSpPr>
        <p:spPr>
          <a:xfrm>
            <a:off x="6217920" y="2011680"/>
            <a:ext cx="411480" cy="411480"/>
          </a:xfrm>
          <a:prstGeom prst="ellipse">
            <a:avLst/>
          </a:prstGeom>
          <a:solidFill>
            <a:schemeClr val="accent1"/>
          </a:solidFill>
          <a:ln/>
        </p:spPr>
      </p:sp>
      <p:pic>
        <p:nvPicPr>
          <p:cNvPr id="16" name="objective icon 3" descr="preencoded.png">    </p:cNvPr>
          <p:cNvPicPr>
            <a:picLocks noChangeAspect="1"/>
          </p:cNvPicPr>
          <p:nvPr/>
        </p:nvPicPr>
        <p:blipFill>
          <a:blip r:embed="rId3"/>
          <a:stretch>
            <a:fillRect/>
          </a:stretch>
        </p:blipFill>
        <p:spPr>
          <a:xfrm>
            <a:off x="6320790" y="2114550"/>
            <a:ext cx="205740" cy="205740"/>
          </a:xfrm>
          <a:prstGeom prst="rect">
            <a:avLst/>
          </a:prstGeom>
        </p:spPr>
      </p:pic>
      <p:sp>
        <p:nvSpPr>
          <p:cNvPr id="17" name="objective title 3"/>
          <p:cNvSpPr txBox="1"/>
          <p:nvPr/>
        </p:nvSpPr>
        <p:spPr>
          <a:xfrm>
            <a:off x="6766560" y="2029968"/>
            <a:ext cx="1783080" cy="365760"/>
          </a:xfrm>
          <a:prstGeom prst="rect">
            <a:avLst/>
          </a:prstGeom>
          <a:noFill/>
          <a:ln/>
        </p:spPr>
        <p:txBody>
          <a:bodyPr wrap="square" lIns="0" tIns="0" rIns="0" bIns="0" rtlCol="0" anchor="ctr"/>
          <a:lstStyle/>
          <a:p>
            <a:pPr indent="0" marL="0">
              <a:buNone/>
            </a:pPr>
            <a:r>
              <a:rPr lang="en-US" sz="1400" b="1" dirty="0">
                <a:solidFill>
                  <a:schemeClr val="tx1"/>
                </a:solidFill>
              </a:rPr>
              <a:t>3. Overload probability</a:t>
            </a:r>
            <a:endParaRPr lang="en-US" sz="1400" dirty="0"/>
          </a:p>
        </p:txBody>
      </p:sp>
      <p:sp>
        <p:nvSpPr>
          <p:cNvPr id="18" name="objective text 3"/>
          <p:cNvSpPr txBox="1"/>
          <p:nvPr/>
        </p:nvSpPr>
        <p:spPr>
          <a:xfrm>
            <a:off x="6217920" y="2514600"/>
            <a:ext cx="2286000" cy="502920"/>
          </a:xfrm>
          <a:prstGeom prst="rect">
            <a:avLst/>
          </a:prstGeom>
          <a:noFill/>
          <a:ln/>
        </p:spPr>
        <p:txBody>
          <a:bodyPr wrap="square" lIns="0" tIns="0" rIns="0" bIns="0" rtlCol="0" anchor="t"/>
          <a:lstStyle/>
          <a:p>
            <a:pPr indent="0" marL="0">
              <a:buNone/>
            </a:pPr>
            <a:r>
              <a:rPr lang="en-US" sz="1100" dirty="0">
                <a:solidFill>
                  <a:schemeClr val="tx1"/>
                </a:solidFill>
              </a:rPr>
              <a:t>P(X &gt; C) per slot, labelled low, medium or high risk</a:t>
            </a:r>
            <a:endParaRPr lang="en-US" sz="1100" dirty="0"/>
          </a:p>
        </p:txBody>
      </p:sp>
      <p:sp>
        <p:nvSpPr>
          <p:cNvPr id="19" name="objective card 4"/>
          <p:cNvSpPr/>
          <p:nvPr/>
        </p:nvSpPr>
        <p:spPr>
          <a:xfrm>
            <a:off x="457200" y="3246120"/>
            <a:ext cx="2606040" cy="1234440"/>
          </a:xfrm>
          <a:prstGeom prst="roundRect">
            <a:avLst>
              <a:gd name="adj" fmla="val 5926"/>
            </a:avLst>
          </a:prstGeom>
          <a:solidFill>
            <a:schemeClr val="bg2"/>
          </a:solidFill>
          <a:ln/>
        </p:spPr>
      </p:sp>
      <p:sp>
        <p:nvSpPr>
          <p:cNvPr id="20" name="objective icon 4 circle"/>
          <p:cNvSpPr/>
          <p:nvPr/>
        </p:nvSpPr>
        <p:spPr>
          <a:xfrm>
            <a:off x="640080" y="3429000"/>
            <a:ext cx="411480" cy="411480"/>
          </a:xfrm>
          <a:prstGeom prst="ellipse">
            <a:avLst/>
          </a:prstGeom>
          <a:solidFill>
            <a:schemeClr val="accent1"/>
          </a:solidFill>
          <a:ln/>
        </p:spPr>
      </p:sp>
      <p:pic>
        <p:nvPicPr>
          <p:cNvPr id="21" name="objective icon 4" descr="preencoded.png">    </p:cNvPr>
          <p:cNvPicPr>
            <a:picLocks noChangeAspect="1"/>
          </p:cNvPicPr>
          <p:nvPr/>
        </p:nvPicPr>
        <p:blipFill>
          <a:blip r:embed="rId4"/>
          <a:stretch>
            <a:fillRect/>
          </a:stretch>
        </p:blipFill>
        <p:spPr>
          <a:xfrm>
            <a:off x="742950" y="3531870"/>
            <a:ext cx="205740" cy="205740"/>
          </a:xfrm>
          <a:prstGeom prst="rect">
            <a:avLst/>
          </a:prstGeom>
        </p:spPr>
      </p:pic>
      <p:sp>
        <p:nvSpPr>
          <p:cNvPr id="22" name="objective title 4"/>
          <p:cNvSpPr txBox="1"/>
          <p:nvPr/>
        </p:nvSpPr>
        <p:spPr>
          <a:xfrm>
            <a:off x="1188720" y="3447288"/>
            <a:ext cx="1783080" cy="365760"/>
          </a:xfrm>
          <a:prstGeom prst="rect">
            <a:avLst/>
          </a:prstGeom>
          <a:noFill/>
          <a:ln/>
        </p:spPr>
        <p:txBody>
          <a:bodyPr wrap="square" lIns="0" tIns="0" rIns="0" bIns="0" rtlCol="0" anchor="ctr"/>
          <a:lstStyle/>
          <a:p>
            <a:pPr indent="0" marL="0">
              <a:buNone/>
            </a:pPr>
            <a:r>
              <a:rPr lang="en-US" sz="1400" b="1" dirty="0">
                <a:solidFill>
                  <a:schemeClr val="tx1"/>
                </a:solidFill>
              </a:rPr>
              <a:t>4. Useful time windows</a:t>
            </a:r>
            <a:endParaRPr lang="en-US" sz="1400" dirty="0"/>
          </a:p>
        </p:txBody>
      </p:sp>
      <p:sp>
        <p:nvSpPr>
          <p:cNvPr id="23" name="objective text 4"/>
          <p:cNvSpPr txBox="1"/>
          <p:nvPr/>
        </p:nvSpPr>
        <p:spPr>
          <a:xfrm>
            <a:off x="640080" y="3931920"/>
            <a:ext cx="2286000" cy="502920"/>
          </a:xfrm>
          <a:prstGeom prst="rect">
            <a:avLst/>
          </a:prstGeom>
          <a:noFill/>
          <a:ln/>
        </p:spPr>
        <p:txBody>
          <a:bodyPr wrap="square" lIns="0" tIns="0" rIns="0" bIns="0" rtlCol="0" anchor="t"/>
          <a:lstStyle/>
          <a:p>
            <a:pPr indent="0" marL="0">
              <a:buNone/>
            </a:pPr>
            <a:r>
              <a:rPr lang="en-US" sz="1100" dirty="0">
                <a:solidFill>
                  <a:schemeClr val="tx1"/>
                </a:solidFill>
              </a:rPr>
              <a:t>The quietest slot, tested, and the capacity needed at the peak</a:t>
            </a:r>
            <a:endParaRPr lang="en-US" sz="1100" dirty="0"/>
          </a:p>
        </p:txBody>
      </p:sp>
      <p:sp>
        <p:nvSpPr>
          <p:cNvPr id="24" name="objective card 5"/>
          <p:cNvSpPr/>
          <p:nvPr/>
        </p:nvSpPr>
        <p:spPr>
          <a:xfrm>
            <a:off x="3246120" y="3246120"/>
            <a:ext cx="2606040" cy="1234440"/>
          </a:xfrm>
          <a:prstGeom prst="roundRect">
            <a:avLst>
              <a:gd name="adj" fmla="val 5926"/>
            </a:avLst>
          </a:prstGeom>
          <a:solidFill>
            <a:schemeClr val="bg2"/>
          </a:solidFill>
          <a:ln/>
        </p:spPr>
      </p:sp>
      <p:sp>
        <p:nvSpPr>
          <p:cNvPr id="25" name="objective icon 5 circle"/>
          <p:cNvSpPr/>
          <p:nvPr/>
        </p:nvSpPr>
        <p:spPr>
          <a:xfrm>
            <a:off x="3429000" y="3429000"/>
            <a:ext cx="411480" cy="411480"/>
          </a:xfrm>
          <a:prstGeom prst="ellipse">
            <a:avLst/>
          </a:prstGeom>
          <a:solidFill>
            <a:schemeClr val="accent1"/>
          </a:solidFill>
          <a:ln/>
        </p:spPr>
      </p:sp>
      <p:pic>
        <p:nvPicPr>
          <p:cNvPr id="26" name="objective icon 5" descr="preencoded.png">    </p:cNvPr>
          <p:cNvPicPr>
            <a:picLocks noChangeAspect="1"/>
          </p:cNvPicPr>
          <p:nvPr/>
        </p:nvPicPr>
        <p:blipFill>
          <a:blip r:embed="rId5"/>
          <a:stretch>
            <a:fillRect/>
          </a:stretch>
        </p:blipFill>
        <p:spPr>
          <a:xfrm>
            <a:off x="3531870" y="3531870"/>
            <a:ext cx="205740" cy="205740"/>
          </a:xfrm>
          <a:prstGeom prst="rect">
            <a:avLst/>
          </a:prstGeom>
        </p:spPr>
      </p:pic>
      <p:sp>
        <p:nvSpPr>
          <p:cNvPr id="27" name="objective title 5"/>
          <p:cNvSpPr txBox="1"/>
          <p:nvPr/>
        </p:nvSpPr>
        <p:spPr>
          <a:xfrm>
            <a:off x="3977640" y="3447288"/>
            <a:ext cx="1783080" cy="365760"/>
          </a:xfrm>
          <a:prstGeom prst="rect">
            <a:avLst/>
          </a:prstGeom>
          <a:noFill/>
          <a:ln/>
        </p:spPr>
        <p:txBody>
          <a:bodyPr wrap="square" lIns="0" tIns="0" rIns="0" bIns="0" rtlCol="0" anchor="ctr"/>
          <a:lstStyle/>
          <a:p>
            <a:pPr indent="0" marL="0">
              <a:buNone/>
            </a:pPr>
            <a:r>
              <a:rPr lang="en-US" sz="1400" b="1" dirty="0">
                <a:solidFill>
                  <a:schemeClr val="tx1"/>
                </a:solidFill>
              </a:rPr>
              <a:t>5. Predict the peak</a:t>
            </a:r>
            <a:endParaRPr lang="en-US" sz="1400" dirty="0"/>
          </a:p>
        </p:txBody>
      </p:sp>
      <p:sp>
        <p:nvSpPr>
          <p:cNvPr id="28" name="objective text 5"/>
          <p:cNvSpPr txBox="1"/>
          <p:nvPr/>
        </p:nvSpPr>
        <p:spPr>
          <a:xfrm>
            <a:off x="3429000" y="3931920"/>
            <a:ext cx="2286000" cy="502920"/>
          </a:xfrm>
          <a:prstGeom prst="rect">
            <a:avLst/>
          </a:prstGeom>
          <a:noFill/>
          <a:ln/>
        </p:spPr>
        <p:txBody>
          <a:bodyPr wrap="square" lIns="0" tIns="0" rIns="0" bIns="0" rtlCol="0" anchor="t"/>
          <a:lstStyle/>
          <a:p>
            <a:pPr indent="0" marL="0">
              <a:buNone/>
            </a:pPr>
            <a:r>
              <a:rPr lang="en-US" sz="1100" dirty="0">
                <a:solidFill>
                  <a:schemeClr val="tx1"/>
                </a:solidFill>
              </a:rPr>
              <a:t>Day-specific risk, P(slot is the peak), same-day Bayesian update</a:t>
            </a:r>
            <a:endParaRPr lang="en-US" sz="1100" dirty="0"/>
          </a:p>
        </p:txBody>
      </p:sp>
      <p:sp>
        <p:nvSpPr>
          <p:cNvPr id="29" name="objective card 6"/>
          <p:cNvSpPr/>
          <p:nvPr/>
        </p:nvSpPr>
        <p:spPr>
          <a:xfrm>
            <a:off x="6035040" y="3246120"/>
            <a:ext cx="2606040" cy="1234440"/>
          </a:xfrm>
          <a:prstGeom prst="roundRect">
            <a:avLst>
              <a:gd name="adj" fmla="val 5926"/>
            </a:avLst>
          </a:prstGeom>
          <a:solidFill>
            <a:schemeClr val="bg2"/>
          </a:solidFill>
          <a:ln/>
        </p:spPr>
      </p:sp>
      <p:sp>
        <p:nvSpPr>
          <p:cNvPr id="30" name="objective icon 6 circle"/>
          <p:cNvSpPr/>
          <p:nvPr/>
        </p:nvSpPr>
        <p:spPr>
          <a:xfrm>
            <a:off x="6217920" y="3429000"/>
            <a:ext cx="411480" cy="411480"/>
          </a:xfrm>
          <a:prstGeom prst="ellipse">
            <a:avLst/>
          </a:prstGeom>
          <a:solidFill>
            <a:schemeClr val="accent1"/>
          </a:solidFill>
          <a:ln/>
        </p:spPr>
      </p:sp>
      <p:pic>
        <p:nvPicPr>
          <p:cNvPr id="31" name="objective icon 6" descr="preencoded.png">    </p:cNvPr>
          <p:cNvPicPr>
            <a:picLocks noChangeAspect="1"/>
          </p:cNvPicPr>
          <p:nvPr/>
        </p:nvPicPr>
        <p:blipFill>
          <a:blip r:embed="rId6"/>
          <a:stretch>
            <a:fillRect/>
          </a:stretch>
        </p:blipFill>
        <p:spPr>
          <a:xfrm>
            <a:off x="6320790" y="3531870"/>
            <a:ext cx="205740" cy="205740"/>
          </a:xfrm>
          <a:prstGeom prst="rect">
            <a:avLst/>
          </a:prstGeom>
        </p:spPr>
      </p:pic>
      <p:sp>
        <p:nvSpPr>
          <p:cNvPr id="32" name="objective title 6"/>
          <p:cNvSpPr txBox="1"/>
          <p:nvPr/>
        </p:nvSpPr>
        <p:spPr>
          <a:xfrm>
            <a:off x="6766560" y="3447288"/>
            <a:ext cx="1783080" cy="365760"/>
          </a:xfrm>
          <a:prstGeom prst="rect">
            <a:avLst/>
          </a:prstGeom>
          <a:noFill/>
          <a:ln/>
        </p:spPr>
        <p:txBody>
          <a:bodyPr wrap="square" lIns="0" tIns="0" rIns="0" bIns="0" rtlCol="0" anchor="ctr"/>
          <a:lstStyle/>
          <a:p>
            <a:pPr indent="0" marL="0">
              <a:buNone/>
            </a:pPr>
            <a:r>
              <a:rPr lang="en-US" sz="1400" b="1" dirty="0">
                <a:solidFill>
                  <a:schemeClr val="tx1"/>
                </a:solidFill>
              </a:rPr>
              <a:t>6. Validate</a:t>
            </a:r>
            <a:endParaRPr lang="en-US" sz="1400" dirty="0"/>
          </a:p>
        </p:txBody>
      </p:sp>
      <p:sp>
        <p:nvSpPr>
          <p:cNvPr id="33" name="objective text 6"/>
          <p:cNvSpPr txBox="1"/>
          <p:nvPr/>
        </p:nvSpPr>
        <p:spPr>
          <a:xfrm>
            <a:off x="6217920" y="3931920"/>
            <a:ext cx="2286000" cy="502920"/>
          </a:xfrm>
          <a:prstGeom prst="rect">
            <a:avLst/>
          </a:prstGeom>
          <a:noFill/>
          <a:ln/>
        </p:spPr>
        <p:txBody>
          <a:bodyPr wrap="square" lIns="0" tIns="0" rIns="0" bIns="0" rtlCol="0" anchor="t"/>
          <a:lstStyle/>
          <a:p>
            <a:pPr indent="0" marL="0">
              <a:buNone/>
            </a:pPr>
            <a:r>
              <a:rPr lang="en-US" sz="1100" dirty="0">
                <a:solidFill>
                  <a:schemeClr val="tx1"/>
                </a:solidFill>
              </a:rPr>
              <a:t>Forecast unseen days and test the forecasts with hypothesis tests</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What earlier work leaves open</a:t>
            </a:r>
            <a:endParaRPr lang="en-US" sz="2800" dirty="0"/>
          </a:p>
        </p:txBody>
      </p:sp>
      <p:sp>
        <p:nvSpPr>
          <p:cNvPr id="3" name="literature summary"/>
          <p:cNvSpPr txBox="1"/>
          <p:nvPr/>
        </p:nvSpPr>
        <p:spPr>
          <a:xfrm>
            <a:off x="457200" y="1188720"/>
            <a:ext cx="3383280" cy="3383280"/>
          </a:xfrm>
          <a:prstGeom prst="rect">
            <a:avLst/>
          </a:prstGeom>
          <a:noFill/>
          <a:ln/>
        </p:spPr>
        <p:txBody>
          <a:bodyPr wrap="square" lIns="0" tIns="0" rIns="0" bIns="0" rtlCol="0" anchor="t"/>
          <a:lstStyle/>
          <a:p>
            <a:pPr indent="0" marL="0">
              <a:buNone/>
            </a:pPr>
            <a:r>
              <a:rPr lang="en-US" sz="1300" b="1" dirty="0">
                <a:solidFill>
                  <a:schemeClr val="tx1"/>
                </a:solidFill>
              </a:rPr>
              <a:t>Canteen studies</a:t>
            </a:r>
            <a:endParaRPr lang="en-US" sz="1300" dirty="0"/>
          </a:p>
          <a:p>
            <a:pPr indent="0" marL="0">
              <a:spcAft>
                <a:spcPts val="800"/>
              </a:spcAft>
              <a:buNone/>
            </a:pPr>
            <a:r>
              <a:rPr lang="en-US" sz="1300" dirty="0">
                <a:solidFill>
                  <a:schemeClr val="tx1"/>
                </a:solidFill>
              </a:rPr>
              <a:t>Tang et al. model pedestrian flow; queueing studies assume Poisson arrivals at one fixed rate.</a:t>
            </a:r>
            <a:endParaRPr lang="en-US" sz="1300" dirty="0"/>
          </a:p>
          <a:p>
            <a:pPr indent="0" marL="0">
              <a:buNone/>
            </a:pPr>
            <a:r>
              <a:rPr lang="en-US" sz="1300" b="1" dirty="0">
                <a:solidFill>
                  <a:schemeClr val="tx1"/>
                </a:solidFill>
              </a:rPr>
              <a:t>Arrival-forecasting studies</a:t>
            </a:r>
            <a:endParaRPr lang="en-US" sz="1300" dirty="0"/>
          </a:p>
          <a:p>
            <a:pPr indent="0" marL="0">
              <a:spcAft>
                <a:spcPts val="800"/>
              </a:spcAft>
              <a:buNone/>
            </a:pPr>
            <a:r>
              <a:rPr lang="en-US" sz="1300" dirty="0">
                <a:solidFill>
                  <a:schemeClr val="tx1"/>
                </a:solidFill>
              </a:rPr>
              <a:t>Call centres and ambulance services forecast rates and update them during the day.</a:t>
            </a:r>
            <a:endParaRPr lang="en-US" sz="1300" dirty="0"/>
          </a:p>
          <a:p>
            <a:pPr indent="0" marL="0">
              <a:buNone/>
            </a:pPr>
            <a:r>
              <a:rPr lang="en-US" sz="1300" b="1" dirty="0">
                <a:solidFill>
                  <a:schemeClr val="tx1"/>
                </a:solidFill>
              </a:rPr>
              <a:t>Tests of Poisson arrivals</a:t>
            </a:r>
            <a:endParaRPr lang="en-US" sz="1300" dirty="0"/>
          </a:p>
          <a:p>
            <a:pPr indent="0" marL="0">
              <a:buNone/>
            </a:pPr>
            <a:r>
              <a:rPr lang="en-US" sz="1300" dirty="0">
                <a:solidFill>
                  <a:schemeClr val="tx1"/>
                </a:solidFill>
              </a:rPr>
              <a:t>Kim and Whitt; Brown et al. show the assumption must be checked, not assumed.</a:t>
            </a:r>
            <a:endParaRPr lang="en-US" sz="1300" dirty="0"/>
          </a:p>
        </p:txBody>
      </p:sp>
      <p:sp>
        <p:nvSpPr>
          <p:cNvPr id="4" name="gap icon 1 circle"/>
          <p:cNvSpPr/>
          <p:nvPr/>
        </p:nvSpPr>
        <p:spPr>
          <a:xfrm>
            <a:off x="4206240" y="1261872"/>
            <a:ext cx="457200" cy="457200"/>
          </a:xfrm>
          <a:prstGeom prst="ellipse">
            <a:avLst/>
          </a:prstGeom>
          <a:solidFill>
            <a:schemeClr val="accent1"/>
          </a:solidFill>
          <a:ln/>
        </p:spPr>
      </p:sp>
      <p:pic>
        <p:nvPicPr>
          <p:cNvPr id="5" name="gap icon 1" descr="preencoded.png">    </p:cNvPr>
          <p:cNvPicPr>
            <a:picLocks noChangeAspect="1"/>
          </p:cNvPicPr>
          <p:nvPr/>
        </p:nvPicPr>
        <p:blipFill>
          <a:blip r:embed="rId1"/>
          <a:stretch>
            <a:fillRect/>
          </a:stretch>
        </p:blipFill>
        <p:spPr>
          <a:xfrm>
            <a:off x="4320540" y="1376172"/>
            <a:ext cx="228600" cy="228600"/>
          </a:xfrm>
          <a:prstGeom prst="rect">
            <a:avLst/>
          </a:prstGeom>
        </p:spPr>
      </p:pic>
      <p:sp>
        <p:nvSpPr>
          <p:cNvPr id="6" name="gap title 1"/>
          <p:cNvSpPr txBox="1"/>
          <p:nvPr/>
        </p:nvSpPr>
        <p:spPr>
          <a:xfrm>
            <a:off x="4846320" y="1188720"/>
            <a:ext cx="3840480" cy="320040"/>
          </a:xfrm>
          <a:prstGeom prst="rect">
            <a:avLst/>
          </a:prstGeom>
          <a:noFill/>
          <a:ln/>
        </p:spPr>
        <p:txBody>
          <a:bodyPr wrap="square" lIns="0" tIns="0" rIns="0" bIns="0" rtlCol="0" anchor="t"/>
          <a:lstStyle/>
          <a:p>
            <a:pPr indent="0" marL="0">
              <a:buNone/>
            </a:pPr>
            <a:r>
              <a:rPr lang="en-US" sz="1400" b="1" dirty="0">
                <a:solidFill>
                  <a:schemeClr val="tx1"/>
                </a:solidFill>
              </a:rPr>
              <a:t>Gap 1: No slot-level overload probability</a:t>
            </a:r>
            <a:endParaRPr lang="en-US" sz="1400" dirty="0"/>
          </a:p>
        </p:txBody>
      </p:sp>
      <p:sp>
        <p:nvSpPr>
          <p:cNvPr id="7" name="gap text 1"/>
          <p:cNvSpPr txBox="1"/>
          <p:nvPr/>
        </p:nvSpPr>
        <p:spPr>
          <a:xfrm>
            <a:off x="4846320" y="1517904"/>
            <a:ext cx="3840480" cy="411480"/>
          </a:xfrm>
          <a:prstGeom prst="rect">
            <a:avLst/>
          </a:prstGeom>
          <a:noFill/>
          <a:ln/>
        </p:spPr>
        <p:txBody>
          <a:bodyPr wrap="square" lIns="0" tIns="0" rIns="0" bIns="0" rtlCol="0" anchor="t"/>
          <a:lstStyle/>
          <a:p>
            <a:pPr indent="0" marL="0">
              <a:buNone/>
            </a:pPr>
            <a:r>
              <a:rPr lang="en-US" sz="1200" dirty="0">
                <a:solidFill>
                  <a:schemeClr val="tx1"/>
                </a:solidFill>
              </a:rPr>
              <a:t>Studies report averages or queue lengths, not P(X &gt; C) per slot</a:t>
            </a:r>
            <a:endParaRPr lang="en-US" sz="1200" dirty="0"/>
          </a:p>
        </p:txBody>
      </p:sp>
      <p:sp>
        <p:nvSpPr>
          <p:cNvPr id="8" name="gap icon 2 circle"/>
          <p:cNvSpPr/>
          <p:nvPr/>
        </p:nvSpPr>
        <p:spPr>
          <a:xfrm>
            <a:off x="4206240" y="2103120"/>
            <a:ext cx="457200" cy="457200"/>
          </a:xfrm>
          <a:prstGeom prst="ellipse">
            <a:avLst/>
          </a:prstGeom>
          <a:solidFill>
            <a:schemeClr val="accent1"/>
          </a:solidFill>
          <a:ln/>
        </p:spPr>
      </p:sp>
      <p:pic>
        <p:nvPicPr>
          <p:cNvPr id="9" name="gap icon 2" descr="preencoded.png">    </p:cNvPr>
          <p:cNvPicPr>
            <a:picLocks noChangeAspect="1"/>
          </p:cNvPicPr>
          <p:nvPr/>
        </p:nvPicPr>
        <p:blipFill>
          <a:blip r:embed="rId2"/>
          <a:stretch>
            <a:fillRect/>
          </a:stretch>
        </p:blipFill>
        <p:spPr>
          <a:xfrm>
            <a:off x="4320540" y="2217420"/>
            <a:ext cx="228600" cy="228600"/>
          </a:xfrm>
          <a:prstGeom prst="rect">
            <a:avLst/>
          </a:prstGeom>
        </p:spPr>
      </p:pic>
      <p:sp>
        <p:nvSpPr>
          <p:cNvPr id="10" name="gap title 2"/>
          <p:cNvSpPr txBox="1"/>
          <p:nvPr/>
        </p:nvSpPr>
        <p:spPr>
          <a:xfrm>
            <a:off x="4846320" y="2029968"/>
            <a:ext cx="3840480" cy="320040"/>
          </a:xfrm>
          <a:prstGeom prst="rect">
            <a:avLst/>
          </a:prstGeom>
          <a:noFill/>
          <a:ln/>
        </p:spPr>
        <p:txBody>
          <a:bodyPr wrap="square" lIns="0" tIns="0" rIns="0" bIns="0" rtlCol="0" anchor="t"/>
          <a:lstStyle/>
          <a:p>
            <a:pPr indent="0" marL="0">
              <a:buNone/>
            </a:pPr>
            <a:r>
              <a:rPr lang="en-US" sz="1400" b="1" dirty="0">
                <a:solidFill>
                  <a:schemeClr val="tx1"/>
                </a:solidFill>
              </a:rPr>
              <a:t>Gap 2: Poisson assumed, not tested</a:t>
            </a:r>
            <a:endParaRPr lang="en-US" sz="1400" dirty="0"/>
          </a:p>
        </p:txBody>
      </p:sp>
      <p:sp>
        <p:nvSpPr>
          <p:cNvPr id="11" name="gap text 2"/>
          <p:cNvSpPr txBox="1"/>
          <p:nvPr/>
        </p:nvSpPr>
        <p:spPr>
          <a:xfrm>
            <a:off x="4846320" y="2359152"/>
            <a:ext cx="3840480" cy="411480"/>
          </a:xfrm>
          <a:prstGeom prst="rect">
            <a:avLst/>
          </a:prstGeom>
          <a:noFill/>
          <a:ln/>
        </p:spPr>
        <p:txBody>
          <a:bodyPr wrap="square" lIns="0" tIns="0" rIns="0" bIns="0" rtlCol="0" anchor="t"/>
          <a:lstStyle/>
          <a:p>
            <a:pPr indent="0" marL="0">
              <a:buNone/>
            </a:pPr>
            <a:r>
              <a:rPr lang="en-US" sz="1200" dirty="0">
                <a:solidFill>
                  <a:schemeClr val="tx1"/>
                </a:solidFill>
              </a:rPr>
              <a:t>Arrival rate is an input; its fit is never checked</a:t>
            </a:r>
            <a:endParaRPr lang="en-US" sz="1200" dirty="0"/>
          </a:p>
        </p:txBody>
      </p:sp>
      <p:sp>
        <p:nvSpPr>
          <p:cNvPr id="12" name="gap icon 3 circle"/>
          <p:cNvSpPr/>
          <p:nvPr/>
        </p:nvSpPr>
        <p:spPr>
          <a:xfrm>
            <a:off x="4206240" y="2944368"/>
            <a:ext cx="457200" cy="457200"/>
          </a:xfrm>
          <a:prstGeom prst="ellipse">
            <a:avLst/>
          </a:prstGeom>
          <a:solidFill>
            <a:schemeClr val="tx1"/>
          </a:solidFill>
          <a:ln/>
        </p:spPr>
      </p:sp>
      <p:pic>
        <p:nvPicPr>
          <p:cNvPr id="13" name="gap icon 3" descr="preencoded.png">    </p:cNvPr>
          <p:cNvPicPr>
            <a:picLocks noChangeAspect="1"/>
          </p:cNvPicPr>
          <p:nvPr/>
        </p:nvPicPr>
        <p:blipFill>
          <a:blip r:embed="rId3"/>
          <a:stretch>
            <a:fillRect/>
          </a:stretch>
        </p:blipFill>
        <p:spPr>
          <a:xfrm>
            <a:off x="4320540" y="3058668"/>
            <a:ext cx="228600" cy="228600"/>
          </a:xfrm>
          <a:prstGeom prst="rect">
            <a:avLst/>
          </a:prstGeom>
        </p:spPr>
      </p:pic>
      <p:sp>
        <p:nvSpPr>
          <p:cNvPr id="14" name="gap title 3"/>
          <p:cNvSpPr txBox="1"/>
          <p:nvPr/>
        </p:nvSpPr>
        <p:spPr>
          <a:xfrm>
            <a:off x="4846320" y="2871216"/>
            <a:ext cx="3840480" cy="320040"/>
          </a:xfrm>
          <a:prstGeom prst="rect">
            <a:avLst/>
          </a:prstGeom>
          <a:noFill/>
          <a:ln/>
        </p:spPr>
        <p:txBody>
          <a:bodyPr wrap="square" lIns="0" tIns="0" rIns="0" bIns="0" rtlCol="0" anchor="t"/>
          <a:lstStyle/>
          <a:p>
            <a:pPr indent="0" marL="0">
              <a:buNone/>
            </a:pPr>
            <a:r>
              <a:rPr lang="en-US" sz="1400" b="1" dirty="0">
                <a:solidFill>
                  <a:schemeClr val="tx1"/>
                </a:solidFill>
              </a:rPr>
              <a:t>Gap 3: No day-specific peak forecast</a:t>
            </a:r>
            <a:endParaRPr lang="en-US" sz="1400" dirty="0"/>
          </a:p>
        </p:txBody>
      </p:sp>
      <p:sp>
        <p:nvSpPr>
          <p:cNvPr id="15" name="gap text 3"/>
          <p:cNvSpPr txBox="1"/>
          <p:nvPr/>
        </p:nvSpPr>
        <p:spPr>
          <a:xfrm>
            <a:off x="4846320" y="3200400"/>
            <a:ext cx="3840480" cy="411480"/>
          </a:xfrm>
          <a:prstGeom prst="rect">
            <a:avLst/>
          </a:prstGeom>
          <a:noFill/>
          <a:ln/>
        </p:spPr>
        <p:txBody>
          <a:bodyPr wrap="square" lIns="0" tIns="0" rIns="0" bIns="0" rtlCol="0" anchor="t"/>
          <a:lstStyle/>
          <a:p>
            <a:pPr indent="0" marL="0">
              <a:buNone/>
            </a:pPr>
            <a:r>
              <a:rPr lang="en-US" sz="1200" dirty="0">
                <a:solidFill>
                  <a:schemeClr val="tx1"/>
                </a:solidFill>
              </a:rPr>
              <a:t>No prediction of a given day's peak time, or update from early counts</a:t>
            </a:r>
            <a:endParaRPr lang="en-US" sz="1200" dirty="0"/>
          </a:p>
        </p:txBody>
      </p:sp>
      <p:sp>
        <p:nvSpPr>
          <p:cNvPr id="16" name="gap icon 4 circle"/>
          <p:cNvSpPr/>
          <p:nvPr/>
        </p:nvSpPr>
        <p:spPr>
          <a:xfrm>
            <a:off x="4206240" y="3785616"/>
            <a:ext cx="457200" cy="457200"/>
          </a:xfrm>
          <a:prstGeom prst="ellipse">
            <a:avLst/>
          </a:prstGeom>
          <a:solidFill>
            <a:schemeClr val="tx1"/>
          </a:solidFill>
          <a:ln/>
        </p:spPr>
      </p:sp>
      <p:pic>
        <p:nvPicPr>
          <p:cNvPr id="17" name="gap icon 4" descr="preencoded.png">    </p:cNvPr>
          <p:cNvPicPr>
            <a:picLocks noChangeAspect="1"/>
          </p:cNvPicPr>
          <p:nvPr/>
        </p:nvPicPr>
        <p:blipFill>
          <a:blip r:embed="rId4"/>
          <a:stretch>
            <a:fillRect/>
          </a:stretch>
        </p:blipFill>
        <p:spPr>
          <a:xfrm>
            <a:off x="4320540" y="3899916"/>
            <a:ext cx="228600" cy="228600"/>
          </a:xfrm>
          <a:prstGeom prst="rect">
            <a:avLst/>
          </a:prstGeom>
        </p:spPr>
      </p:pic>
      <p:sp>
        <p:nvSpPr>
          <p:cNvPr id="18" name="gap title 4"/>
          <p:cNvSpPr txBox="1"/>
          <p:nvPr/>
        </p:nvSpPr>
        <p:spPr>
          <a:xfrm>
            <a:off x="4846320" y="3712464"/>
            <a:ext cx="3840480" cy="320040"/>
          </a:xfrm>
          <a:prstGeom prst="rect">
            <a:avLst/>
          </a:prstGeom>
          <a:noFill/>
          <a:ln/>
        </p:spPr>
        <p:txBody>
          <a:bodyPr wrap="square" lIns="0" tIns="0" rIns="0" bIns="0" rtlCol="0" anchor="t"/>
          <a:lstStyle/>
          <a:p>
            <a:pPr indent="0" marL="0">
              <a:buNone/>
            </a:pPr>
            <a:r>
              <a:rPr lang="en-US" sz="1400" b="1" dirty="0">
                <a:solidFill>
                  <a:schemeClr val="tx1"/>
                </a:solidFill>
              </a:rPr>
              <a:t>Gap 4: No test on unseen days</a:t>
            </a:r>
            <a:endParaRPr lang="en-US" sz="1400" dirty="0"/>
          </a:p>
        </p:txBody>
      </p:sp>
      <p:sp>
        <p:nvSpPr>
          <p:cNvPr id="19" name="gap text 4"/>
          <p:cNvSpPr txBox="1"/>
          <p:nvPr/>
        </p:nvSpPr>
        <p:spPr>
          <a:xfrm>
            <a:off x="4846320" y="4041648"/>
            <a:ext cx="3840480" cy="411480"/>
          </a:xfrm>
          <a:prstGeom prst="rect">
            <a:avLst/>
          </a:prstGeom>
          <a:noFill/>
          <a:ln/>
        </p:spPr>
        <p:txBody>
          <a:bodyPr wrap="square" lIns="0" tIns="0" rIns="0" bIns="0" rtlCol="0" anchor="t"/>
          <a:lstStyle/>
          <a:p>
            <a:pPr indent="0" marL="0">
              <a:buNone/>
            </a:pPr>
            <a:r>
              <a:rPr lang="en-US" sz="1200" dirty="0">
                <a:solidFill>
                  <a:schemeClr val="tx1"/>
                </a:solidFill>
              </a:rPr>
              <a:t>Canteen forecasts are not validated against held-out data</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Data and data reference</a:t>
            </a:r>
            <a:endParaRPr lang="en-US" sz="2800" dirty="0"/>
          </a:p>
        </p:txBody>
      </p:sp>
      <p:sp>
        <p:nvSpPr>
          <p:cNvPr id="3" name="data card"/>
          <p:cNvSpPr/>
          <p:nvPr/>
        </p:nvSpPr>
        <p:spPr>
          <a:xfrm>
            <a:off x="457200" y="1188720"/>
            <a:ext cx="3931920" cy="3337560"/>
          </a:xfrm>
          <a:prstGeom prst="roundRect">
            <a:avLst>
              <a:gd name="adj" fmla="val 2192"/>
            </a:avLst>
          </a:prstGeom>
          <a:solidFill>
            <a:schemeClr val="bg2"/>
          </a:solidFill>
          <a:ln/>
        </p:spPr>
      </p:sp>
      <p:sp>
        <p:nvSpPr>
          <p:cNvPr id="4" name="data text"/>
          <p:cNvSpPr txBox="1"/>
          <p:nvPr/>
        </p:nvSpPr>
        <p:spPr>
          <a:xfrm>
            <a:off x="685800" y="1371600"/>
            <a:ext cx="3520440" cy="3017520"/>
          </a:xfrm>
          <a:prstGeom prst="rect">
            <a:avLst/>
          </a:prstGeom>
          <a:noFill/>
          <a:ln/>
        </p:spPr>
        <p:txBody>
          <a:bodyPr wrap="square" lIns="0" tIns="0" rIns="0" bIns="0" rtlCol="0" anchor="t"/>
          <a:lstStyle/>
          <a:p>
            <a:pPr indent="0" marL="0">
              <a:buNone/>
            </a:pPr>
            <a:r>
              <a:rPr lang="en-US" sz="1200" b="1" dirty="0">
                <a:solidFill>
                  <a:schemeClr val="accent1"/>
                </a:solidFill>
              </a:rPr>
              <a:t>Collection protocol (field data)</a:t>
            </a:r>
            <a:endParaRPr lang="en-US" sz="1200" dirty="0"/>
          </a:p>
          <a:p>
            <a:pPr indent="0" marL="0">
              <a:spcAft>
                <a:spcPts val="1000"/>
              </a:spcAft>
              <a:buNone/>
            </a:pPr>
            <a:r>
              <a:rPr lang="en-US" sz="1200" dirty="0">
                <a:solidFill>
                  <a:schemeClr val="tx1"/>
                </a:solidFill>
              </a:rPr>
              <a:t>Count students entering the canteen in fixed 15-minute slots, 12:30–14:30, on working days (manual or permitted video), following Tang et al. (2019).</a:t>
            </a:r>
            <a:endParaRPr lang="en-US" sz="1200" dirty="0"/>
          </a:p>
          <a:p>
            <a:pPr indent="0" marL="0">
              <a:buNone/>
            </a:pPr>
            <a:r>
              <a:rPr lang="en-US" sz="1200" b="1" dirty="0">
                <a:solidFill>
                  <a:schemeClr val="accent1"/>
                </a:solidFill>
              </a:rPr>
              <a:t>Prototype dataset used now</a:t>
            </a:r>
            <a:endParaRPr lang="en-US" sz="1200" dirty="0"/>
          </a:p>
          <a:p>
            <a:pPr indent="0" marL="0">
              <a:spcAft>
                <a:spcPts val="1000"/>
              </a:spcAft>
              <a:buNone/>
            </a:pPr>
            <a:r>
              <a:rPr lang="en-US" sz="1200" dirty="0">
                <a:solidFill>
                  <a:schemeClr val="tx1"/>
                </a:solidFill>
              </a:rPr>
              <a:t>Synthetic semester from data_generator.py (seed 42): lunch rush near 13:15, weekday and exam-week effects, day-to-day variation. Not observed results.</a:t>
            </a:r>
            <a:endParaRPr lang="en-US" sz="1200" dirty="0"/>
          </a:p>
          <a:p>
            <a:pPr indent="0" marL="0">
              <a:buNone/>
            </a:pPr>
            <a:r>
              <a:rPr lang="en-US" sz="1200" b="1" dirty="0">
                <a:solidFill>
                  <a:schemeClr val="accent1"/>
                </a:solidFill>
              </a:rPr>
              <a:t>Cleaning</a:t>
            </a:r>
            <a:endParaRPr lang="en-US" sz="1200" dirty="0"/>
          </a:p>
          <a:p>
            <a:pPr indent="0" marL="0">
              <a:buNone/>
            </a:pPr>
            <a:r>
              <a:rPr lang="en-US" sz="1200" dirty="0">
                <a:solidFill>
                  <a:schemeClr val="tx1"/>
                </a:solidFill>
              </a:rPr>
              <a:t>Missing or invalid counts are dropped, not imputed, so the variance is not shrunk.</a:t>
            </a:r>
            <a:endParaRPr lang="en-US" sz="1200" dirty="0"/>
          </a:p>
        </p:txBody>
      </p:sp>
      <p:sp>
        <p:nvSpPr>
          <p:cNvPr id="5" name="days value"/>
          <p:cNvSpPr txBox="1"/>
          <p:nvPr/>
        </p:nvSpPr>
        <p:spPr>
          <a:xfrm>
            <a:off x="4754880" y="1234440"/>
            <a:ext cx="182880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90</a:t>
            </a:r>
            <a:endParaRPr lang="en-US" sz="3200" dirty="0"/>
          </a:p>
        </p:txBody>
      </p:sp>
      <p:sp>
        <p:nvSpPr>
          <p:cNvPr id="6" name="days label"/>
          <p:cNvSpPr txBox="1"/>
          <p:nvPr/>
        </p:nvSpPr>
        <p:spPr>
          <a:xfrm>
            <a:off x="4754880" y="1801368"/>
            <a:ext cx="1828800" cy="502920"/>
          </a:xfrm>
          <a:prstGeom prst="rect">
            <a:avLst/>
          </a:prstGeom>
          <a:noFill/>
          <a:ln/>
        </p:spPr>
        <p:txBody>
          <a:bodyPr wrap="square" lIns="0" tIns="0" rIns="0" bIns="0" rtlCol="0" anchor="t"/>
          <a:lstStyle/>
          <a:p>
            <a:pPr indent="0" marL="0">
              <a:buNone/>
            </a:pPr>
            <a:r>
              <a:rPr lang="en-US" sz="1200" dirty="0">
                <a:solidFill>
                  <a:schemeClr val="tx1"/>
                </a:solidFill>
              </a:rPr>
              <a:t>working days (one 18-week semester)</a:t>
            </a:r>
            <a:endParaRPr lang="en-US" sz="1200" dirty="0"/>
          </a:p>
        </p:txBody>
      </p:sp>
      <p:sp>
        <p:nvSpPr>
          <p:cNvPr id="7" name="slots per day value"/>
          <p:cNvSpPr txBox="1"/>
          <p:nvPr/>
        </p:nvSpPr>
        <p:spPr>
          <a:xfrm>
            <a:off x="6858000" y="1234440"/>
            <a:ext cx="182880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8</a:t>
            </a:r>
            <a:endParaRPr lang="en-US" sz="3200" dirty="0"/>
          </a:p>
        </p:txBody>
      </p:sp>
      <p:sp>
        <p:nvSpPr>
          <p:cNvPr id="8" name="slots per day label"/>
          <p:cNvSpPr txBox="1"/>
          <p:nvPr/>
        </p:nvSpPr>
        <p:spPr>
          <a:xfrm>
            <a:off x="6858000" y="1801368"/>
            <a:ext cx="1828800" cy="502920"/>
          </a:xfrm>
          <a:prstGeom prst="rect">
            <a:avLst/>
          </a:prstGeom>
          <a:noFill/>
          <a:ln/>
        </p:spPr>
        <p:txBody>
          <a:bodyPr wrap="square" lIns="0" tIns="0" rIns="0" bIns="0" rtlCol="0" anchor="t"/>
          <a:lstStyle/>
          <a:p>
            <a:pPr indent="0" marL="0">
              <a:buNone/>
            </a:pPr>
            <a:r>
              <a:rPr lang="en-US" sz="1200" dirty="0">
                <a:solidFill>
                  <a:schemeClr val="tx1"/>
                </a:solidFill>
              </a:rPr>
              <a:t>15-minute slots per day</a:t>
            </a:r>
            <a:endParaRPr lang="en-US" sz="1200" dirty="0"/>
          </a:p>
        </p:txBody>
      </p:sp>
      <p:sp>
        <p:nvSpPr>
          <p:cNvPr id="9" name="observations value"/>
          <p:cNvSpPr txBox="1"/>
          <p:nvPr/>
        </p:nvSpPr>
        <p:spPr>
          <a:xfrm>
            <a:off x="4754880" y="2377440"/>
            <a:ext cx="182880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717</a:t>
            </a:r>
            <a:endParaRPr lang="en-US" sz="3200" dirty="0"/>
          </a:p>
        </p:txBody>
      </p:sp>
      <p:sp>
        <p:nvSpPr>
          <p:cNvPr id="10" name="observations label"/>
          <p:cNvSpPr txBox="1"/>
          <p:nvPr/>
        </p:nvSpPr>
        <p:spPr>
          <a:xfrm>
            <a:off x="4754880" y="2944368"/>
            <a:ext cx="1828800" cy="502920"/>
          </a:xfrm>
          <a:prstGeom prst="rect">
            <a:avLst/>
          </a:prstGeom>
          <a:noFill/>
          <a:ln/>
        </p:spPr>
        <p:txBody>
          <a:bodyPr wrap="square" lIns="0" tIns="0" rIns="0" bIns="0" rtlCol="0" anchor="t"/>
          <a:lstStyle/>
          <a:p>
            <a:pPr indent="0" marL="0">
              <a:buNone/>
            </a:pPr>
            <a:r>
              <a:rPr lang="en-US" sz="1200" dirty="0">
                <a:solidFill>
                  <a:schemeClr val="tx1"/>
                </a:solidFill>
              </a:rPr>
              <a:t>slot observations used</a:t>
            </a:r>
            <a:endParaRPr lang="en-US" sz="1200" dirty="0"/>
          </a:p>
        </p:txBody>
      </p:sp>
      <p:sp>
        <p:nvSpPr>
          <p:cNvPr id="11" name="dropped value"/>
          <p:cNvSpPr txBox="1"/>
          <p:nvPr/>
        </p:nvSpPr>
        <p:spPr>
          <a:xfrm>
            <a:off x="6858000" y="2377440"/>
            <a:ext cx="182880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12" name="dropped label"/>
          <p:cNvSpPr txBox="1"/>
          <p:nvPr/>
        </p:nvSpPr>
        <p:spPr>
          <a:xfrm>
            <a:off x="6858000" y="2944368"/>
            <a:ext cx="1828800" cy="502920"/>
          </a:xfrm>
          <a:prstGeom prst="rect">
            <a:avLst/>
          </a:prstGeom>
          <a:noFill/>
          <a:ln/>
        </p:spPr>
        <p:txBody>
          <a:bodyPr wrap="square" lIns="0" tIns="0" rIns="0" bIns="0" rtlCol="0" anchor="t"/>
          <a:lstStyle/>
          <a:p>
            <a:pPr indent="0" marL="0">
              <a:buNone/>
            </a:pPr>
            <a:r>
              <a:rPr lang="en-US" sz="1200" dirty="0">
                <a:solidFill>
                  <a:schemeClr val="tx1"/>
                </a:solidFill>
              </a:rPr>
              <a:t>missing counts dropped (of 720)</a:t>
            </a:r>
            <a:endParaRPr lang="en-US" sz="1200" dirty="0"/>
          </a:p>
        </p:txBody>
      </p:sp>
      <p:sp>
        <p:nvSpPr>
          <p:cNvPr id="13" name="exam weeks value"/>
          <p:cNvSpPr txBox="1"/>
          <p:nvPr/>
        </p:nvSpPr>
        <p:spPr>
          <a:xfrm>
            <a:off x="4754880" y="3520440"/>
            <a:ext cx="182880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14" name="exam weeks label"/>
          <p:cNvSpPr txBox="1"/>
          <p:nvPr/>
        </p:nvSpPr>
        <p:spPr>
          <a:xfrm>
            <a:off x="4754880" y="4087368"/>
            <a:ext cx="1828800" cy="502920"/>
          </a:xfrm>
          <a:prstGeom prst="rect">
            <a:avLst/>
          </a:prstGeom>
          <a:noFill/>
          <a:ln/>
        </p:spPr>
        <p:txBody>
          <a:bodyPr wrap="square" lIns="0" tIns="0" rIns="0" bIns="0" rtlCol="0" anchor="t"/>
          <a:lstStyle/>
          <a:p>
            <a:pPr indent="0" marL="0">
              <a:buNone/>
            </a:pPr>
            <a:r>
              <a:rPr lang="en-US" sz="1200" dirty="0">
                <a:solidFill>
                  <a:schemeClr val="tx1"/>
                </a:solidFill>
              </a:rPr>
              <a:t>exam weeks (weeks 9 and 18)</a:t>
            </a:r>
            <a:endParaRPr lang="en-US" sz="1200" dirty="0"/>
          </a:p>
        </p:txBody>
      </p:sp>
      <p:sp>
        <p:nvSpPr>
          <p:cNvPr id="15" name="max count value"/>
          <p:cNvSpPr txBox="1"/>
          <p:nvPr/>
        </p:nvSpPr>
        <p:spPr>
          <a:xfrm>
            <a:off x="6858000" y="3520440"/>
            <a:ext cx="182880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52</a:t>
            </a:r>
            <a:endParaRPr lang="en-US" sz="3200" dirty="0"/>
          </a:p>
        </p:txBody>
      </p:sp>
      <p:sp>
        <p:nvSpPr>
          <p:cNvPr id="16" name="max count label"/>
          <p:cNvSpPr txBox="1"/>
          <p:nvPr/>
        </p:nvSpPr>
        <p:spPr>
          <a:xfrm>
            <a:off x="6858000" y="4087368"/>
            <a:ext cx="1828800" cy="502920"/>
          </a:xfrm>
          <a:prstGeom prst="rect">
            <a:avLst/>
          </a:prstGeom>
          <a:noFill/>
          <a:ln/>
        </p:spPr>
        <p:txBody>
          <a:bodyPr wrap="square" lIns="0" tIns="0" rIns="0" bIns="0" rtlCol="0" anchor="t"/>
          <a:lstStyle/>
          <a:p>
            <a:pPr indent="0" marL="0">
              <a:buNone/>
            </a:pPr>
            <a:r>
              <a:rPr lang="en-US" sz="1200" dirty="0">
                <a:solidFill>
                  <a:schemeClr val="tx1"/>
                </a:solidFill>
              </a:rPr>
              <a:t>largest count in one slot</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Method: six steps, each mapped to the syllabus</a:t>
            </a:r>
            <a:endParaRPr lang="en-US" sz="2800" dirty="0"/>
          </a:p>
        </p:txBody>
      </p:sp>
      <p:sp>
        <p:nvSpPr>
          <p:cNvPr id="3" name="step icon 1 circle"/>
          <p:cNvSpPr/>
          <p:nvPr/>
        </p:nvSpPr>
        <p:spPr>
          <a:xfrm>
            <a:off x="804672" y="1325880"/>
            <a:ext cx="594360" cy="594360"/>
          </a:xfrm>
          <a:prstGeom prst="ellipse">
            <a:avLst/>
          </a:prstGeom>
          <a:solidFill>
            <a:schemeClr val="accent1"/>
          </a:solidFill>
          <a:ln/>
        </p:spPr>
      </p:sp>
      <p:pic>
        <p:nvPicPr>
          <p:cNvPr id="4" name="step icon 1" descr="preencoded.png">    </p:cNvPr>
          <p:cNvPicPr>
            <a:picLocks noChangeAspect="1"/>
          </p:cNvPicPr>
          <p:nvPr/>
        </p:nvPicPr>
        <p:blipFill>
          <a:blip r:embed="rId1"/>
          <a:stretch>
            <a:fillRect/>
          </a:stretch>
        </p:blipFill>
        <p:spPr>
          <a:xfrm>
            <a:off x="953262" y="1474470"/>
            <a:ext cx="297180" cy="297180"/>
          </a:xfrm>
          <a:prstGeom prst="rect">
            <a:avLst/>
          </a:prstGeom>
        </p:spPr>
      </p:pic>
      <p:sp>
        <p:nvSpPr>
          <p:cNvPr id="5" name="arrow 1"/>
          <p:cNvSpPr/>
          <p:nvPr/>
        </p:nvSpPr>
        <p:spPr>
          <a:xfrm>
            <a:off x="1481328" y="1623060"/>
            <a:ext cx="658368" cy="0"/>
          </a:xfrm>
          <a:prstGeom prst="line">
            <a:avLst/>
          </a:prstGeom>
          <a:noFill/>
          <a:ln w="19050">
            <a:solidFill>
              <a:srgbClr val="DDE3EA"/>
            </a:solidFill>
            <a:prstDash val="solid"/>
            <a:tailEnd type="triangle"/>
          </a:ln>
        </p:spPr>
      </p:sp>
      <p:sp>
        <p:nvSpPr>
          <p:cNvPr id="6" name="step title 1"/>
          <p:cNvSpPr txBox="1"/>
          <p:nvPr/>
        </p:nvSpPr>
        <p:spPr>
          <a:xfrm>
            <a:off x="457200" y="2057400"/>
            <a:ext cx="1280160" cy="320040"/>
          </a:xfrm>
          <a:prstGeom prst="rect">
            <a:avLst/>
          </a:prstGeom>
          <a:noFill/>
          <a:ln/>
        </p:spPr>
        <p:txBody>
          <a:bodyPr wrap="square" lIns="0" tIns="0" rIns="0" bIns="0" rtlCol="0" anchor="t"/>
          <a:lstStyle/>
          <a:p>
            <a:pPr algn="ctr" indent="0" marL="0">
              <a:buNone/>
            </a:pPr>
            <a:r>
              <a:rPr lang="en-US" sz="1500" b="1" dirty="0">
                <a:solidFill>
                  <a:schemeClr val="tx1"/>
                </a:solidFill>
              </a:rPr>
              <a:t>Estimate</a:t>
            </a:r>
            <a:endParaRPr lang="en-US" sz="1500" dirty="0"/>
          </a:p>
        </p:txBody>
      </p:sp>
      <p:sp>
        <p:nvSpPr>
          <p:cNvPr id="7" name="step text 1"/>
          <p:cNvSpPr txBox="1"/>
          <p:nvPr/>
        </p:nvSpPr>
        <p:spPr>
          <a:xfrm>
            <a:off x="457200" y="2395728"/>
            <a:ext cx="1280160" cy="548640"/>
          </a:xfrm>
          <a:prstGeom prst="rect">
            <a:avLst/>
          </a:prstGeom>
          <a:noFill/>
          <a:ln/>
        </p:spPr>
        <p:txBody>
          <a:bodyPr wrap="square" lIns="0" tIns="0" rIns="0" bIns="0" rtlCol="0" anchor="t"/>
          <a:lstStyle/>
          <a:p>
            <a:pPr algn="ctr" indent="0" marL="0">
              <a:buNone/>
            </a:pPr>
            <a:r>
              <a:rPr lang="en-US" sz="1100" dirty="0">
                <a:solidFill>
                  <a:schemeClr val="tx1"/>
                </a:solidFill>
              </a:rPr>
              <a:t>Rate λ per slot, exact CI</a:t>
            </a:r>
            <a:endParaRPr lang="en-US" sz="1100" dirty="0"/>
          </a:p>
        </p:txBody>
      </p:sp>
      <p:sp>
        <p:nvSpPr>
          <p:cNvPr id="8" name="step module 1"/>
          <p:cNvSpPr txBox="1"/>
          <p:nvPr/>
        </p:nvSpPr>
        <p:spPr>
          <a:xfrm>
            <a:off x="731520" y="2971800"/>
            <a:ext cx="731520" cy="256032"/>
          </a:xfrm>
          <a:prstGeom prst="rect">
            <a:avLst/>
          </a:prstGeom>
          <a:noFill/>
          <a:ln/>
        </p:spPr>
        <p:txBody>
          <a:bodyPr wrap="square" lIns="0" tIns="0" rIns="0" bIns="0" rtlCol="0" anchor="t"/>
          <a:lstStyle/>
          <a:p>
            <a:pPr algn="ctr" indent="0" marL="0">
              <a:buNone/>
            </a:pPr>
            <a:r>
              <a:rPr lang="en-US" sz="1000" b="1" dirty="0">
                <a:solidFill>
                  <a:schemeClr val="accent1"/>
                </a:solidFill>
              </a:rPr>
              <a:t>M2, M4</a:t>
            </a:r>
            <a:endParaRPr lang="en-US" sz="1000" dirty="0"/>
          </a:p>
        </p:txBody>
      </p:sp>
      <p:sp>
        <p:nvSpPr>
          <p:cNvPr id="9" name="step icon 2 circle"/>
          <p:cNvSpPr/>
          <p:nvPr/>
        </p:nvSpPr>
        <p:spPr>
          <a:xfrm>
            <a:off x="2221992" y="1325880"/>
            <a:ext cx="594360" cy="594360"/>
          </a:xfrm>
          <a:prstGeom prst="ellipse">
            <a:avLst/>
          </a:prstGeom>
          <a:solidFill>
            <a:schemeClr val="tx1"/>
          </a:solidFill>
          <a:ln/>
        </p:spPr>
      </p:sp>
      <p:pic>
        <p:nvPicPr>
          <p:cNvPr id="10" name="step icon 2" descr="preencoded.png">    </p:cNvPr>
          <p:cNvPicPr>
            <a:picLocks noChangeAspect="1"/>
          </p:cNvPicPr>
          <p:nvPr/>
        </p:nvPicPr>
        <p:blipFill>
          <a:blip r:embed="rId2"/>
          <a:stretch>
            <a:fillRect/>
          </a:stretch>
        </p:blipFill>
        <p:spPr>
          <a:xfrm>
            <a:off x="2370582" y="1474470"/>
            <a:ext cx="297180" cy="297180"/>
          </a:xfrm>
          <a:prstGeom prst="rect">
            <a:avLst/>
          </a:prstGeom>
        </p:spPr>
      </p:pic>
      <p:sp>
        <p:nvSpPr>
          <p:cNvPr id="11" name="arrow 2"/>
          <p:cNvSpPr/>
          <p:nvPr/>
        </p:nvSpPr>
        <p:spPr>
          <a:xfrm>
            <a:off x="2898648" y="1623060"/>
            <a:ext cx="658368" cy="0"/>
          </a:xfrm>
          <a:prstGeom prst="line">
            <a:avLst/>
          </a:prstGeom>
          <a:noFill/>
          <a:ln w="19050">
            <a:solidFill>
              <a:srgbClr val="DDE3EA"/>
            </a:solidFill>
            <a:prstDash val="solid"/>
            <a:tailEnd type="triangle"/>
          </a:ln>
        </p:spPr>
      </p:sp>
      <p:sp>
        <p:nvSpPr>
          <p:cNvPr id="12" name="step title 2"/>
          <p:cNvSpPr txBox="1"/>
          <p:nvPr/>
        </p:nvSpPr>
        <p:spPr>
          <a:xfrm>
            <a:off x="1874520" y="2057400"/>
            <a:ext cx="1280160" cy="320040"/>
          </a:xfrm>
          <a:prstGeom prst="rect">
            <a:avLst/>
          </a:prstGeom>
          <a:noFill/>
          <a:ln/>
        </p:spPr>
        <p:txBody>
          <a:bodyPr wrap="square" lIns="0" tIns="0" rIns="0" bIns="0" rtlCol="0" anchor="t"/>
          <a:lstStyle/>
          <a:p>
            <a:pPr algn="ctr" indent="0" marL="0">
              <a:buNone/>
            </a:pPr>
            <a:r>
              <a:rPr lang="en-US" sz="1500" b="1" dirty="0">
                <a:solidFill>
                  <a:schemeClr val="tx1"/>
                </a:solidFill>
              </a:rPr>
              <a:t>Test</a:t>
            </a:r>
            <a:endParaRPr lang="en-US" sz="1500" dirty="0"/>
          </a:p>
        </p:txBody>
      </p:sp>
      <p:sp>
        <p:nvSpPr>
          <p:cNvPr id="13" name="step text 2"/>
          <p:cNvSpPr txBox="1"/>
          <p:nvPr/>
        </p:nvSpPr>
        <p:spPr>
          <a:xfrm>
            <a:off x="1874520" y="2395728"/>
            <a:ext cx="1280160" cy="548640"/>
          </a:xfrm>
          <a:prstGeom prst="rect">
            <a:avLst/>
          </a:prstGeom>
          <a:noFill/>
          <a:ln/>
        </p:spPr>
        <p:txBody>
          <a:bodyPr wrap="square" lIns="0" tIns="0" rIns="0" bIns="0" rtlCol="0" anchor="t"/>
          <a:lstStyle/>
          <a:p>
            <a:pPr algn="ctr" indent="0" marL="0">
              <a:buNone/>
            </a:pPr>
            <a:r>
              <a:rPr lang="en-US" sz="1100" dirty="0">
                <a:solidFill>
                  <a:schemeClr val="tx1"/>
                </a:solidFill>
              </a:rPr>
              <a:t>χ² GOF, dispersion test</a:t>
            </a:r>
            <a:endParaRPr lang="en-US" sz="1100" dirty="0"/>
          </a:p>
        </p:txBody>
      </p:sp>
      <p:sp>
        <p:nvSpPr>
          <p:cNvPr id="14" name="step module 2"/>
          <p:cNvSpPr txBox="1"/>
          <p:nvPr/>
        </p:nvSpPr>
        <p:spPr>
          <a:xfrm>
            <a:off x="2148840" y="2971800"/>
            <a:ext cx="731520" cy="256032"/>
          </a:xfrm>
          <a:prstGeom prst="rect">
            <a:avLst/>
          </a:prstGeom>
          <a:noFill/>
          <a:ln/>
        </p:spPr>
        <p:txBody>
          <a:bodyPr wrap="square" lIns="0" tIns="0" rIns="0" bIns="0" rtlCol="0" anchor="t"/>
          <a:lstStyle/>
          <a:p>
            <a:pPr algn="ctr" indent="0" marL="0">
              <a:buNone/>
            </a:pPr>
            <a:r>
              <a:rPr lang="en-US" sz="1000" b="1" dirty="0">
                <a:solidFill>
                  <a:schemeClr val="accent1"/>
                </a:solidFill>
              </a:rPr>
              <a:t>M5</a:t>
            </a:r>
            <a:endParaRPr lang="en-US" sz="1000" dirty="0"/>
          </a:p>
        </p:txBody>
      </p:sp>
      <p:sp>
        <p:nvSpPr>
          <p:cNvPr id="15" name="step icon 3 circle"/>
          <p:cNvSpPr/>
          <p:nvPr/>
        </p:nvSpPr>
        <p:spPr>
          <a:xfrm>
            <a:off x="3639312" y="1325880"/>
            <a:ext cx="594360" cy="594360"/>
          </a:xfrm>
          <a:prstGeom prst="ellipse">
            <a:avLst/>
          </a:prstGeom>
          <a:solidFill>
            <a:schemeClr val="accent1"/>
          </a:solidFill>
          <a:ln/>
        </p:spPr>
      </p:sp>
      <p:pic>
        <p:nvPicPr>
          <p:cNvPr id="16" name="step icon 3" descr="preencoded.png">    </p:cNvPr>
          <p:cNvPicPr>
            <a:picLocks noChangeAspect="1"/>
          </p:cNvPicPr>
          <p:nvPr/>
        </p:nvPicPr>
        <p:blipFill>
          <a:blip r:embed="rId3"/>
          <a:stretch>
            <a:fillRect/>
          </a:stretch>
        </p:blipFill>
        <p:spPr>
          <a:xfrm>
            <a:off x="3787902" y="1474470"/>
            <a:ext cx="297180" cy="297180"/>
          </a:xfrm>
          <a:prstGeom prst="rect">
            <a:avLst/>
          </a:prstGeom>
        </p:spPr>
      </p:pic>
      <p:sp>
        <p:nvSpPr>
          <p:cNvPr id="17" name="arrow 3"/>
          <p:cNvSpPr/>
          <p:nvPr/>
        </p:nvSpPr>
        <p:spPr>
          <a:xfrm>
            <a:off x="4315968" y="1623060"/>
            <a:ext cx="658368" cy="0"/>
          </a:xfrm>
          <a:prstGeom prst="line">
            <a:avLst/>
          </a:prstGeom>
          <a:noFill/>
          <a:ln w="19050">
            <a:solidFill>
              <a:srgbClr val="DDE3EA"/>
            </a:solidFill>
            <a:prstDash val="solid"/>
            <a:tailEnd type="triangle"/>
          </a:ln>
        </p:spPr>
      </p:sp>
      <p:sp>
        <p:nvSpPr>
          <p:cNvPr id="18" name="step title 3"/>
          <p:cNvSpPr txBox="1"/>
          <p:nvPr/>
        </p:nvSpPr>
        <p:spPr>
          <a:xfrm>
            <a:off x="3291840" y="2057400"/>
            <a:ext cx="1280160" cy="320040"/>
          </a:xfrm>
          <a:prstGeom prst="rect">
            <a:avLst/>
          </a:prstGeom>
          <a:noFill/>
          <a:ln/>
        </p:spPr>
        <p:txBody>
          <a:bodyPr wrap="square" lIns="0" tIns="0" rIns="0" bIns="0" rtlCol="0" anchor="t"/>
          <a:lstStyle/>
          <a:p>
            <a:pPr algn="ctr" indent="0" marL="0">
              <a:buNone/>
            </a:pPr>
            <a:r>
              <a:rPr lang="en-US" sz="1500" b="1" dirty="0">
                <a:solidFill>
                  <a:schemeClr val="tx1"/>
                </a:solidFill>
              </a:rPr>
              <a:t>Overload</a:t>
            </a:r>
            <a:endParaRPr lang="en-US" sz="1500" dirty="0"/>
          </a:p>
        </p:txBody>
      </p:sp>
      <p:sp>
        <p:nvSpPr>
          <p:cNvPr id="19" name="step text 3"/>
          <p:cNvSpPr txBox="1"/>
          <p:nvPr/>
        </p:nvSpPr>
        <p:spPr>
          <a:xfrm>
            <a:off x="3291840" y="2395728"/>
            <a:ext cx="1280160" cy="548640"/>
          </a:xfrm>
          <a:prstGeom prst="rect">
            <a:avLst/>
          </a:prstGeom>
          <a:noFill/>
          <a:ln/>
        </p:spPr>
        <p:txBody>
          <a:bodyPr wrap="square" lIns="0" tIns="0" rIns="0" bIns="0" rtlCol="0" anchor="t"/>
          <a:lstStyle/>
          <a:p>
            <a:pPr algn="ctr" indent="0" marL="0">
              <a:buNone/>
            </a:pPr>
            <a:r>
              <a:rPr lang="en-US" sz="1100" dirty="0">
                <a:solidFill>
                  <a:schemeClr val="tx1"/>
                </a:solidFill>
              </a:rPr>
              <a:t>P(X &gt; C), risk label</a:t>
            </a:r>
            <a:endParaRPr lang="en-US" sz="1100" dirty="0"/>
          </a:p>
        </p:txBody>
      </p:sp>
      <p:sp>
        <p:nvSpPr>
          <p:cNvPr id="20" name="step module 3"/>
          <p:cNvSpPr txBox="1"/>
          <p:nvPr/>
        </p:nvSpPr>
        <p:spPr>
          <a:xfrm>
            <a:off x="3566160" y="2971800"/>
            <a:ext cx="731520" cy="256032"/>
          </a:xfrm>
          <a:prstGeom prst="rect">
            <a:avLst/>
          </a:prstGeom>
          <a:noFill/>
          <a:ln/>
        </p:spPr>
        <p:txBody>
          <a:bodyPr wrap="square" lIns="0" tIns="0" rIns="0" bIns="0" rtlCol="0" anchor="t"/>
          <a:lstStyle/>
          <a:p>
            <a:pPr algn="ctr" indent="0" marL="0">
              <a:buNone/>
            </a:pPr>
            <a:r>
              <a:rPr lang="en-US" sz="1000" b="1" dirty="0">
                <a:solidFill>
                  <a:schemeClr val="accent1"/>
                </a:solidFill>
              </a:rPr>
              <a:t>M2</a:t>
            </a:r>
            <a:endParaRPr lang="en-US" sz="1000" dirty="0"/>
          </a:p>
        </p:txBody>
      </p:sp>
      <p:sp>
        <p:nvSpPr>
          <p:cNvPr id="21" name="step icon 4 circle"/>
          <p:cNvSpPr/>
          <p:nvPr/>
        </p:nvSpPr>
        <p:spPr>
          <a:xfrm>
            <a:off x="5056632" y="1325880"/>
            <a:ext cx="594360" cy="594360"/>
          </a:xfrm>
          <a:prstGeom prst="ellipse">
            <a:avLst/>
          </a:prstGeom>
          <a:solidFill>
            <a:schemeClr val="tx1"/>
          </a:solidFill>
          <a:ln/>
        </p:spPr>
      </p:sp>
      <p:pic>
        <p:nvPicPr>
          <p:cNvPr id="22" name="step icon 4" descr="preencoded.png">    </p:cNvPr>
          <p:cNvPicPr>
            <a:picLocks noChangeAspect="1"/>
          </p:cNvPicPr>
          <p:nvPr/>
        </p:nvPicPr>
        <p:blipFill>
          <a:blip r:embed="rId4"/>
          <a:stretch>
            <a:fillRect/>
          </a:stretch>
        </p:blipFill>
        <p:spPr>
          <a:xfrm>
            <a:off x="5205222" y="1474470"/>
            <a:ext cx="297180" cy="297180"/>
          </a:xfrm>
          <a:prstGeom prst="rect">
            <a:avLst/>
          </a:prstGeom>
        </p:spPr>
      </p:pic>
      <p:sp>
        <p:nvSpPr>
          <p:cNvPr id="23" name="arrow 4"/>
          <p:cNvSpPr/>
          <p:nvPr/>
        </p:nvSpPr>
        <p:spPr>
          <a:xfrm>
            <a:off x="5733288" y="1623060"/>
            <a:ext cx="658368" cy="0"/>
          </a:xfrm>
          <a:prstGeom prst="line">
            <a:avLst/>
          </a:prstGeom>
          <a:noFill/>
          <a:ln w="19050">
            <a:solidFill>
              <a:srgbClr val="DDE3EA"/>
            </a:solidFill>
            <a:prstDash val="solid"/>
            <a:tailEnd type="triangle"/>
          </a:ln>
        </p:spPr>
      </p:sp>
      <p:sp>
        <p:nvSpPr>
          <p:cNvPr id="24" name="step title 4"/>
          <p:cNvSpPr txBox="1"/>
          <p:nvPr/>
        </p:nvSpPr>
        <p:spPr>
          <a:xfrm>
            <a:off x="4709160" y="2057400"/>
            <a:ext cx="1280160" cy="320040"/>
          </a:xfrm>
          <a:prstGeom prst="rect">
            <a:avLst/>
          </a:prstGeom>
          <a:noFill/>
          <a:ln/>
        </p:spPr>
        <p:txBody>
          <a:bodyPr wrap="square" lIns="0" tIns="0" rIns="0" bIns="0" rtlCol="0" anchor="t"/>
          <a:lstStyle/>
          <a:p>
            <a:pPr algn="ctr" indent="0" marL="0">
              <a:buNone/>
            </a:pPr>
            <a:r>
              <a:rPr lang="en-US" sz="1500" b="1" dirty="0">
                <a:solidFill>
                  <a:schemeClr val="tx1"/>
                </a:solidFill>
              </a:rPr>
              <a:t>Forecast</a:t>
            </a:r>
            <a:endParaRPr lang="en-US" sz="1500" dirty="0"/>
          </a:p>
        </p:txBody>
      </p:sp>
      <p:sp>
        <p:nvSpPr>
          <p:cNvPr id="25" name="step text 4"/>
          <p:cNvSpPr txBox="1"/>
          <p:nvPr/>
        </p:nvSpPr>
        <p:spPr>
          <a:xfrm>
            <a:off x="4709160" y="2395728"/>
            <a:ext cx="1280160" cy="548640"/>
          </a:xfrm>
          <a:prstGeom prst="rect">
            <a:avLst/>
          </a:prstGeom>
          <a:noFill/>
          <a:ln/>
        </p:spPr>
        <p:txBody>
          <a:bodyPr wrap="square" lIns="0" tIns="0" rIns="0" bIns="0" rtlCol="0" anchor="t"/>
          <a:lstStyle/>
          <a:p>
            <a:pPr algn="ctr" indent="0" marL="0">
              <a:buNone/>
            </a:pPr>
            <a:r>
              <a:rPr lang="en-US" sz="1100" dirty="0">
                <a:solidFill>
                  <a:schemeClr val="tx1"/>
                </a:solidFill>
              </a:rPr>
              <a:t>Regression, Poisson–Gamma</a:t>
            </a:r>
            <a:endParaRPr lang="en-US" sz="1100" dirty="0"/>
          </a:p>
        </p:txBody>
      </p:sp>
      <p:sp>
        <p:nvSpPr>
          <p:cNvPr id="26" name="step module 4"/>
          <p:cNvSpPr txBox="1"/>
          <p:nvPr/>
        </p:nvSpPr>
        <p:spPr>
          <a:xfrm>
            <a:off x="4983480" y="2971800"/>
            <a:ext cx="731520" cy="256032"/>
          </a:xfrm>
          <a:prstGeom prst="rect">
            <a:avLst/>
          </a:prstGeom>
          <a:noFill/>
          <a:ln/>
        </p:spPr>
        <p:txBody>
          <a:bodyPr wrap="square" lIns="0" tIns="0" rIns="0" bIns="0" rtlCol="0" anchor="t"/>
          <a:lstStyle/>
          <a:p>
            <a:pPr algn="ctr" indent="0" marL="0">
              <a:buNone/>
            </a:pPr>
            <a:r>
              <a:rPr lang="en-US" sz="1000" b="1" dirty="0">
                <a:solidFill>
                  <a:schemeClr val="accent1"/>
                </a:solidFill>
              </a:rPr>
              <a:t>M1, M3</a:t>
            </a:r>
            <a:endParaRPr lang="en-US" sz="1000" dirty="0"/>
          </a:p>
        </p:txBody>
      </p:sp>
      <p:sp>
        <p:nvSpPr>
          <p:cNvPr id="27" name="step icon 5 circle"/>
          <p:cNvSpPr/>
          <p:nvPr/>
        </p:nvSpPr>
        <p:spPr>
          <a:xfrm>
            <a:off x="6473952" y="1325880"/>
            <a:ext cx="594360" cy="594360"/>
          </a:xfrm>
          <a:prstGeom prst="ellipse">
            <a:avLst/>
          </a:prstGeom>
          <a:solidFill>
            <a:schemeClr val="accent1"/>
          </a:solidFill>
          <a:ln/>
        </p:spPr>
      </p:sp>
      <p:pic>
        <p:nvPicPr>
          <p:cNvPr id="28" name="step icon 5" descr="preencoded.png">    </p:cNvPr>
          <p:cNvPicPr>
            <a:picLocks noChangeAspect="1"/>
          </p:cNvPicPr>
          <p:nvPr/>
        </p:nvPicPr>
        <p:blipFill>
          <a:blip r:embed="rId5"/>
          <a:stretch>
            <a:fillRect/>
          </a:stretch>
        </p:blipFill>
        <p:spPr>
          <a:xfrm>
            <a:off x="6622542" y="1474470"/>
            <a:ext cx="297180" cy="297180"/>
          </a:xfrm>
          <a:prstGeom prst="rect">
            <a:avLst/>
          </a:prstGeom>
        </p:spPr>
      </p:pic>
      <p:sp>
        <p:nvSpPr>
          <p:cNvPr id="29" name="arrow 5"/>
          <p:cNvSpPr/>
          <p:nvPr/>
        </p:nvSpPr>
        <p:spPr>
          <a:xfrm>
            <a:off x="7150608" y="1623060"/>
            <a:ext cx="658368" cy="0"/>
          </a:xfrm>
          <a:prstGeom prst="line">
            <a:avLst/>
          </a:prstGeom>
          <a:noFill/>
          <a:ln w="19050">
            <a:solidFill>
              <a:srgbClr val="DDE3EA"/>
            </a:solidFill>
            <a:prstDash val="solid"/>
            <a:tailEnd type="triangle"/>
          </a:ln>
        </p:spPr>
      </p:sp>
      <p:sp>
        <p:nvSpPr>
          <p:cNvPr id="30" name="step title 5"/>
          <p:cNvSpPr txBox="1"/>
          <p:nvPr/>
        </p:nvSpPr>
        <p:spPr>
          <a:xfrm>
            <a:off x="6126480" y="2057400"/>
            <a:ext cx="1280160" cy="320040"/>
          </a:xfrm>
          <a:prstGeom prst="rect">
            <a:avLst/>
          </a:prstGeom>
          <a:noFill/>
          <a:ln/>
        </p:spPr>
        <p:txBody>
          <a:bodyPr wrap="square" lIns="0" tIns="0" rIns="0" bIns="0" rtlCol="0" anchor="t"/>
          <a:lstStyle/>
          <a:p>
            <a:pPr algn="ctr" indent="0" marL="0">
              <a:buNone/>
            </a:pPr>
            <a:r>
              <a:rPr lang="en-US" sz="1500" b="1" dirty="0">
                <a:solidFill>
                  <a:schemeClr val="tx1"/>
                </a:solidFill>
              </a:rPr>
              <a:t>Update</a:t>
            </a:r>
            <a:endParaRPr lang="en-US" sz="1500" dirty="0"/>
          </a:p>
        </p:txBody>
      </p:sp>
      <p:sp>
        <p:nvSpPr>
          <p:cNvPr id="31" name="step text 5"/>
          <p:cNvSpPr txBox="1"/>
          <p:nvPr/>
        </p:nvSpPr>
        <p:spPr>
          <a:xfrm>
            <a:off x="6126480" y="2395728"/>
            <a:ext cx="1280160" cy="548640"/>
          </a:xfrm>
          <a:prstGeom prst="rect">
            <a:avLst/>
          </a:prstGeom>
          <a:noFill/>
          <a:ln/>
        </p:spPr>
        <p:txBody>
          <a:bodyPr wrap="square" lIns="0" tIns="0" rIns="0" bIns="0" rtlCol="0" anchor="t"/>
          <a:lstStyle/>
          <a:p>
            <a:pPr algn="ctr" indent="0" marL="0">
              <a:buNone/>
            </a:pPr>
            <a:r>
              <a:rPr lang="en-US" sz="1100" dirty="0">
                <a:solidFill>
                  <a:schemeClr val="tx1"/>
                </a:solidFill>
              </a:rPr>
              <a:t>Bayes' theorem in the day</a:t>
            </a:r>
            <a:endParaRPr lang="en-US" sz="1100" dirty="0"/>
          </a:p>
        </p:txBody>
      </p:sp>
      <p:sp>
        <p:nvSpPr>
          <p:cNvPr id="32" name="step module 5"/>
          <p:cNvSpPr txBox="1"/>
          <p:nvPr/>
        </p:nvSpPr>
        <p:spPr>
          <a:xfrm>
            <a:off x="6400800" y="2971800"/>
            <a:ext cx="731520" cy="256032"/>
          </a:xfrm>
          <a:prstGeom prst="rect">
            <a:avLst/>
          </a:prstGeom>
          <a:noFill/>
          <a:ln/>
        </p:spPr>
        <p:txBody>
          <a:bodyPr wrap="square" lIns="0" tIns="0" rIns="0" bIns="0" rtlCol="0" anchor="t"/>
          <a:lstStyle/>
          <a:p>
            <a:pPr algn="ctr" indent="0" marL="0">
              <a:buNone/>
            </a:pPr>
            <a:r>
              <a:rPr lang="en-US" sz="1000" b="1" dirty="0">
                <a:solidFill>
                  <a:schemeClr val="accent1"/>
                </a:solidFill>
              </a:rPr>
              <a:t>M1</a:t>
            </a:r>
            <a:endParaRPr lang="en-US" sz="1000" dirty="0"/>
          </a:p>
        </p:txBody>
      </p:sp>
      <p:sp>
        <p:nvSpPr>
          <p:cNvPr id="33" name="step icon 6 circle"/>
          <p:cNvSpPr/>
          <p:nvPr/>
        </p:nvSpPr>
        <p:spPr>
          <a:xfrm>
            <a:off x="7891272" y="1325880"/>
            <a:ext cx="594360" cy="594360"/>
          </a:xfrm>
          <a:prstGeom prst="ellipse">
            <a:avLst/>
          </a:prstGeom>
          <a:solidFill>
            <a:schemeClr val="tx1"/>
          </a:solidFill>
          <a:ln/>
        </p:spPr>
      </p:sp>
      <p:pic>
        <p:nvPicPr>
          <p:cNvPr id="34" name="step icon 6" descr="preencoded.png">    </p:cNvPr>
          <p:cNvPicPr>
            <a:picLocks noChangeAspect="1"/>
          </p:cNvPicPr>
          <p:nvPr/>
        </p:nvPicPr>
        <p:blipFill>
          <a:blip r:embed="rId6"/>
          <a:stretch>
            <a:fillRect/>
          </a:stretch>
        </p:blipFill>
        <p:spPr>
          <a:xfrm>
            <a:off x="8039862" y="1474470"/>
            <a:ext cx="297180" cy="297180"/>
          </a:xfrm>
          <a:prstGeom prst="rect">
            <a:avLst/>
          </a:prstGeom>
        </p:spPr>
      </p:pic>
      <p:sp>
        <p:nvSpPr>
          <p:cNvPr id="35" name="step title 6"/>
          <p:cNvSpPr txBox="1"/>
          <p:nvPr/>
        </p:nvSpPr>
        <p:spPr>
          <a:xfrm>
            <a:off x="7543800" y="2057400"/>
            <a:ext cx="1280160" cy="320040"/>
          </a:xfrm>
          <a:prstGeom prst="rect">
            <a:avLst/>
          </a:prstGeom>
          <a:noFill/>
          <a:ln/>
        </p:spPr>
        <p:txBody>
          <a:bodyPr wrap="square" lIns="0" tIns="0" rIns="0" bIns="0" rtlCol="0" anchor="t"/>
          <a:lstStyle/>
          <a:p>
            <a:pPr algn="ctr" indent="0" marL="0">
              <a:buNone/>
            </a:pPr>
            <a:r>
              <a:rPr lang="en-US" sz="1500" b="1" dirty="0">
                <a:solidFill>
                  <a:schemeClr val="tx1"/>
                </a:solidFill>
              </a:rPr>
              <a:t>Validate</a:t>
            </a:r>
            <a:endParaRPr lang="en-US" sz="1500" dirty="0"/>
          </a:p>
        </p:txBody>
      </p:sp>
      <p:sp>
        <p:nvSpPr>
          <p:cNvPr id="36" name="step text 6"/>
          <p:cNvSpPr txBox="1"/>
          <p:nvPr/>
        </p:nvSpPr>
        <p:spPr>
          <a:xfrm>
            <a:off x="7543800" y="2395728"/>
            <a:ext cx="1280160" cy="548640"/>
          </a:xfrm>
          <a:prstGeom prst="rect">
            <a:avLst/>
          </a:prstGeom>
          <a:noFill/>
          <a:ln/>
        </p:spPr>
        <p:txBody>
          <a:bodyPr wrap="square" lIns="0" tIns="0" rIns="0" bIns="0" rtlCol="0" anchor="t"/>
          <a:lstStyle/>
          <a:p>
            <a:pPr algn="ctr" indent="0" marL="0">
              <a:buNone/>
            </a:pPr>
            <a:r>
              <a:rPr lang="en-US" sz="1100" dirty="0">
                <a:solidFill>
                  <a:schemeClr val="tx1"/>
                </a:solidFill>
              </a:rPr>
              <a:t>Unseen days, z/t/KS tests</a:t>
            </a:r>
            <a:endParaRPr lang="en-US" sz="1100" dirty="0"/>
          </a:p>
        </p:txBody>
      </p:sp>
      <p:sp>
        <p:nvSpPr>
          <p:cNvPr id="37" name="step module 6"/>
          <p:cNvSpPr txBox="1"/>
          <p:nvPr/>
        </p:nvSpPr>
        <p:spPr>
          <a:xfrm>
            <a:off x="7818120" y="2971800"/>
            <a:ext cx="731520" cy="256032"/>
          </a:xfrm>
          <a:prstGeom prst="rect">
            <a:avLst/>
          </a:prstGeom>
          <a:noFill/>
          <a:ln/>
        </p:spPr>
        <p:txBody>
          <a:bodyPr wrap="square" lIns="0" tIns="0" rIns="0" bIns="0" rtlCol="0" anchor="t"/>
          <a:lstStyle/>
          <a:p>
            <a:pPr algn="ctr" indent="0" marL="0">
              <a:buNone/>
            </a:pPr>
            <a:r>
              <a:rPr lang="en-US" sz="1000" b="1" dirty="0">
                <a:solidFill>
                  <a:schemeClr val="accent1"/>
                </a:solidFill>
              </a:rPr>
              <a:t>M4, M5</a:t>
            </a:r>
            <a:endParaRPr lang="en-US" sz="1000" dirty="0"/>
          </a:p>
        </p:txBody>
      </p:sp>
      <p:sp>
        <p:nvSpPr>
          <p:cNvPr id="38" name="syllabus card"/>
          <p:cNvSpPr/>
          <p:nvPr/>
        </p:nvSpPr>
        <p:spPr>
          <a:xfrm>
            <a:off x="457200" y="3474720"/>
            <a:ext cx="8229600" cy="1051560"/>
          </a:xfrm>
          <a:prstGeom prst="roundRect">
            <a:avLst>
              <a:gd name="adj" fmla="val 6957"/>
            </a:avLst>
          </a:prstGeom>
          <a:solidFill>
            <a:schemeClr val="bg2"/>
          </a:solidFill>
          <a:ln/>
        </p:spPr>
      </p:sp>
      <p:sp>
        <p:nvSpPr>
          <p:cNvPr id="39" name="syllabus text"/>
          <p:cNvSpPr txBox="1"/>
          <p:nvPr/>
        </p:nvSpPr>
        <p:spPr>
          <a:xfrm>
            <a:off x="685800" y="3611880"/>
            <a:ext cx="7772400" cy="822960"/>
          </a:xfrm>
          <a:prstGeom prst="rect">
            <a:avLst/>
          </a:prstGeom>
          <a:noFill/>
          <a:ln/>
        </p:spPr>
        <p:txBody>
          <a:bodyPr wrap="square" lIns="0" tIns="0" rIns="0" bIns="0" rtlCol="0" anchor="ctr"/>
          <a:lstStyle/>
          <a:p>
            <a:pPr indent="0" marL="0">
              <a:buNone/>
            </a:pPr>
            <a:r>
              <a:rPr lang="en-US" sz="1200" b="1" dirty="0">
                <a:solidFill>
                  <a:schemeClr val="tx1"/>
                </a:solidFill>
              </a:rPr>
              <a:t>Syllabus modules: </a:t>
            </a:r>
            <a:pPr indent="0" marL="0">
              <a:buNone/>
            </a:pPr>
            <a:r>
              <a:rPr lang="en-US" sz="1200" dirty="0">
                <a:solidFill>
                  <a:schemeClr val="tx1"/>
                </a:solidFill>
              </a:rPr>
              <a:t>M1 probability and Bayes' theorem · M2 discrete distributions (Poisson, binomial, negative binomial) · M3 correlation and regression · M4 sampling and estimation, large-sample tests · M5 small-sample tests (t, χ², F, ANOVA, non-parametric)</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Preliminaries: the key formulas</a:t>
            </a:r>
            <a:endParaRPr lang="en-US" sz="2800" dirty="0"/>
          </a:p>
        </p:txBody>
      </p:sp>
      <p:sp>
        <p:nvSpPr>
          <p:cNvPr id="3" name="formula card 1"/>
          <p:cNvSpPr/>
          <p:nvPr/>
        </p:nvSpPr>
        <p:spPr>
          <a:xfrm>
            <a:off x="457200" y="1188720"/>
            <a:ext cx="4023360" cy="1508760"/>
          </a:xfrm>
          <a:prstGeom prst="roundRect">
            <a:avLst>
              <a:gd name="adj" fmla="val 4848"/>
            </a:avLst>
          </a:prstGeom>
          <a:solidFill>
            <a:schemeClr val="bg2"/>
          </a:solidFill>
          <a:ln/>
        </p:spPr>
      </p:sp>
      <p:sp>
        <p:nvSpPr>
          <p:cNvPr id="4" name="formula title 1"/>
          <p:cNvSpPr txBox="1"/>
          <p:nvPr/>
        </p:nvSpPr>
        <p:spPr>
          <a:xfrm>
            <a:off x="685800" y="1353312"/>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Poisson model</a:t>
            </a:r>
            <a:endParaRPr lang="en-US" sz="1400" dirty="0"/>
          </a:p>
        </p:txBody>
      </p:sp>
      <p:sp>
        <p:nvSpPr>
          <p:cNvPr id="5" name="formula 1"/>
          <p:cNvSpPr txBox="1"/>
          <p:nvPr/>
        </p:nvSpPr>
        <p:spPr>
          <a:xfrm>
            <a:off x="685800" y="1737360"/>
            <a:ext cx="3566160" cy="4114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P(X = x) = e</a:t>
            </a:r>
            <a:pPr indent="0" marL="0">
              <a:buNone/>
            </a:pPr>
            <a:r>
              <a:rPr lang="en-US" sz="1600" baseline="30000" dirty="0">
                <a:solidFill>
                  <a:schemeClr val="tx1"/>
                </a:solidFill>
                <a:latin typeface="Cambria" pitchFamily="34" charset="0"/>
                <a:ea typeface="Cambria" pitchFamily="34" charset="-122"/>
                <a:cs typeface="Cambria" pitchFamily="34" charset="-120"/>
              </a:rPr>
              <a:t>−λ</a:t>
            </a:r>
            <a:pPr indent="0" marL="0">
              <a:buNone/>
            </a:pPr>
            <a:r>
              <a:rPr lang="en-US" sz="1600" dirty="0">
                <a:solidFill>
                  <a:schemeClr val="tx1"/>
                </a:solidFill>
                <a:latin typeface="Cambria" pitchFamily="34" charset="0"/>
                <a:ea typeface="Cambria" pitchFamily="34" charset="-122"/>
                <a:cs typeface="Cambria" pitchFamily="34" charset="-120"/>
              </a:rPr>
              <a:t> λ</a:t>
            </a:r>
            <a:pPr indent="0" marL="0">
              <a:buNone/>
            </a:pPr>
            <a:r>
              <a:rPr lang="en-US" sz="1600" baseline="30000" dirty="0">
                <a:solidFill>
                  <a:schemeClr val="tx1"/>
                </a:solidFill>
                <a:latin typeface="Cambria" pitchFamily="34" charset="0"/>
                <a:ea typeface="Cambria" pitchFamily="34" charset="-122"/>
                <a:cs typeface="Cambria" pitchFamily="34" charset="-120"/>
              </a:rPr>
              <a:t>x</a:t>
            </a:r>
            <a:pPr indent="0" marL="0">
              <a:buNone/>
            </a:pPr>
            <a:r>
              <a:rPr lang="en-US" sz="1600" dirty="0">
                <a:solidFill>
                  <a:schemeClr val="tx1"/>
                </a:solidFill>
                <a:latin typeface="Cambria" pitchFamily="34" charset="0"/>
                <a:ea typeface="Cambria" pitchFamily="34" charset="-122"/>
                <a:cs typeface="Cambria" pitchFamily="34" charset="-120"/>
              </a:rPr>
              <a:t> / x!</a:t>
            </a:r>
            <a:endParaRPr lang="en-US" sz="1600" dirty="0"/>
          </a:p>
        </p:txBody>
      </p:sp>
      <p:sp>
        <p:nvSpPr>
          <p:cNvPr id="6" name="formula note 1"/>
          <p:cNvSpPr txBox="1"/>
          <p:nvPr/>
        </p:nvSpPr>
        <p:spPr>
          <a:xfrm>
            <a:off x="685800" y="2212848"/>
            <a:ext cx="3566160" cy="365760"/>
          </a:xfrm>
          <a:prstGeom prst="rect">
            <a:avLst/>
          </a:prstGeom>
          <a:noFill/>
          <a:ln/>
        </p:spPr>
        <p:txBody>
          <a:bodyPr wrap="square" lIns="0" tIns="0" rIns="0" bIns="0" rtlCol="0" anchor="t"/>
          <a:lstStyle/>
          <a:p>
            <a:pPr indent="0" marL="0">
              <a:buNone/>
            </a:pPr>
            <a:r>
              <a:rPr lang="en-US" sz="1100" dirty="0">
                <a:solidFill>
                  <a:schemeClr val="tx1"/>
                </a:solidFill>
              </a:rPr>
              <a:t>Mean = variance = λ; estimate λ by the sample mean Σxᵢ / m</a:t>
            </a:r>
            <a:endParaRPr lang="en-US" sz="1100" dirty="0"/>
          </a:p>
        </p:txBody>
      </p:sp>
      <p:sp>
        <p:nvSpPr>
          <p:cNvPr id="7" name="formula card 2"/>
          <p:cNvSpPr/>
          <p:nvPr/>
        </p:nvSpPr>
        <p:spPr>
          <a:xfrm>
            <a:off x="4663440" y="1188720"/>
            <a:ext cx="4023360" cy="1508760"/>
          </a:xfrm>
          <a:prstGeom prst="roundRect">
            <a:avLst>
              <a:gd name="adj" fmla="val 4848"/>
            </a:avLst>
          </a:prstGeom>
          <a:solidFill>
            <a:schemeClr val="bg2"/>
          </a:solidFill>
          <a:ln/>
        </p:spPr>
      </p:sp>
      <p:sp>
        <p:nvSpPr>
          <p:cNvPr id="8" name="formula title 2"/>
          <p:cNvSpPr txBox="1"/>
          <p:nvPr/>
        </p:nvSpPr>
        <p:spPr>
          <a:xfrm>
            <a:off x="4892040" y="1353312"/>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Overload probability</a:t>
            </a:r>
            <a:endParaRPr lang="en-US" sz="1400" dirty="0"/>
          </a:p>
        </p:txBody>
      </p:sp>
      <p:sp>
        <p:nvSpPr>
          <p:cNvPr id="9" name="formula 2"/>
          <p:cNvSpPr txBox="1"/>
          <p:nvPr/>
        </p:nvSpPr>
        <p:spPr>
          <a:xfrm>
            <a:off x="4892040" y="1737360"/>
            <a:ext cx="3566160" cy="4114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P(X &gt; C) = 1 − Σ</a:t>
            </a:r>
            <a:pPr indent="0" marL="0">
              <a:buNone/>
            </a:pPr>
            <a:r>
              <a:rPr lang="en-US" sz="1600" baseline="-40000" dirty="0">
                <a:solidFill>
                  <a:schemeClr val="tx1"/>
                </a:solidFill>
                <a:latin typeface="Cambria" pitchFamily="34" charset="0"/>
                <a:ea typeface="Cambria" pitchFamily="34" charset="-122"/>
                <a:cs typeface="Cambria" pitchFamily="34" charset="-120"/>
              </a:rPr>
              <a:t>x=0..C</a:t>
            </a:r>
            <a:pPr indent="0" marL="0">
              <a:buNone/>
            </a:pPr>
            <a:r>
              <a:rPr lang="en-US" sz="1600" dirty="0">
                <a:solidFill>
                  <a:schemeClr val="tx1"/>
                </a:solidFill>
                <a:latin typeface="Cambria" pitchFamily="34" charset="0"/>
                <a:ea typeface="Cambria" pitchFamily="34" charset="-122"/>
                <a:cs typeface="Cambria" pitchFamily="34" charset="-120"/>
              </a:rPr>
              <a:t> e</a:t>
            </a:r>
            <a:pPr indent="0" marL="0">
              <a:buNone/>
            </a:pPr>
            <a:r>
              <a:rPr lang="en-US" sz="1600" baseline="30000" dirty="0">
                <a:solidFill>
                  <a:schemeClr val="tx1"/>
                </a:solidFill>
                <a:latin typeface="Cambria" pitchFamily="34" charset="0"/>
                <a:ea typeface="Cambria" pitchFamily="34" charset="-122"/>
                <a:cs typeface="Cambria" pitchFamily="34" charset="-120"/>
              </a:rPr>
              <a:t>−λ</a:t>
            </a:r>
            <a:pPr indent="0" marL="0">
              <a:buNone/>
            </a:pPr>
            <a:r>
              <a:rPr lang="en-US" sz="1600" dirty="0">
                <a:solidFill>
                  <a:schemeClr val="tx1"/>
                </a:solidFill>
                <a:latin typeface="Cambria" pitchFamily="34" charset="0"/>
                <a:ea typeface="Cambria" pitchFamily="34" charset="-122"/>
                <a:cs typeface="Cambria" pitchFamily="34" charset="-120"/>
              </a:rPr>
              <a:t> λ</a:t>
            </a:r>
            <a:pPr indent="0" marL="0">
              <a:buNone/>
            </a:pPr>
            <a:r>
              <a:rPr lang="en-US" sz="1600" baseline="30000" dirty="0">
                <a:solidFill>
                  <a:schemeClr val="tx1"/>
                </a:solidFill>
                <a:latin typeface="Cambria" pitchFamily="34" charset="0"/>
                <a:ea typeface="Cambria" pitchFamily="34" charset="-122"/>
                <a:cs typeface="Cambria" pitchFamily="34" charset="-120"/>
              </a:rPr>
              <a:t>x</a:t>
            </a:r>
            <a:pPr indent="0" marL="0">
              <a:buNone/>
            </a:pPr>
            <a:r>
              <a:rPr lang="en-US" sz="1600" dirty="0">
                <a:solidFill>
                  <a:schemeClr val="tx1"/>
                </a:solidFill>
                <a:latin typeface="Cambria" pitchFamily="34" charset="0"/>
                <a:ea typeface="Cambria" pitchFamily="34" charset="-122"/>
                <a:cs typeface="Cambria" pitchFamily="34" charset="-120"/>
              </a:rPr>
              <a:t> / x!</a:t>
            </a:r>
            <a:endParaRPr lang="en-US" sz="1600" dirty="0"/>
          </a:p>
        </p:txBody>
      </p:sp>
      <p:sp>
        <p:nvSpPr>
          <p:cNvPr id="10" name="formula note 2"/>
          <p:cNvSpPr txBox="1"/>
          <p:nvPr/>
        </p:nvSpPr>
        <p:spPr>
          <a:xfrm>
            <a:off x="4892040" y="2212848"/>
            <a:ext cx="3566160" cy="365760"/>
          </a:xfrm>
          <a:prstGeom prst="rect">
            <a:avLst/>
          </a:prstGeom>
          <a:noFill/>
          <a:ln/>
        </p:spPr>
        <p:txBody>
          <a:bodyPr wrap="square" lIns="0" tIns="0" rIns="0" bIns="0" rtlCol="0" anchor="t"/>
          <a:lstStyle/>
          <a:p>
            <a:pPr indent="0" marL="0">
              <a:buNone/>
            </a:pPr>
            <a:r>
              <a:rPr lang="en-US" sz="1100" dirty="0">
                <a:solidFill>
                  <a:schemeClr val="tx1"/>
                </a:solidFill>
              </a:rPr>
              <a:t>Low &lt; 20%, High &gt; 50%, otherwise Medium</a:t>
            </a:r>
            <a:endParaRPr lang="en-US" sz="1100" dirty="0"/>
          </a:p>
        </p:txBody>
      </p:sp>
      <p:sp>
        <p:nvSpPr>
          <p:cNvPr id="11" name="formula card 3"/>
          <p:cNvSpPr/>
          <p:nvPr/>
        </p:nvSpPr>
        <p:spPr>
          <a:xfrm>
            <a:off x="457200" y="2880360"/>
            <a:ext cx="4023360" cy="1508760"/>
          </a:xfrm>
          <a:prstGeom prst="roundRect">
            <a:avLst>
              <a:gd name="adj" fmla="val 4848"/>
            </a:avLst>
          </a:prstGeom>
          <a:solidFill>
            <a:schemeClr val="bg2"/>
          </a:solidFill>
          <a:ln/>
        </p:spPr>
      </p:sp>
      <p:sp>
        <p:nvSpPr>
          <p:cNvPr id="12" name="formula title 3"/>
          <p:cNvSpPr txBox="1"/>
          <p:nvPr/>
        </p:nvSpPr>
        <p:spPr>
          <a:xfrm>
            <a:off x="685800" y="3044952"/>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Exact (Garwood) CI</a:t>
            </a:r>
            <a:endParaRPr lang="en-US" sz="1400" dirty="0"/>
          </a:p>
        </p:txBody>
      </p:sp>
      <p:sp>
        <p:nvSpPr>
          <p:cNvPr id="13" name="formula 3"/>
          <p:cNvSpPr txBox="1"/>
          <p:nvPr/>
        </p:nvSpPr>
        <p:spPr>
          <a:xfrm>
            <a:off x="685800" y="3429000"/>
            <a:ext cx="3566160" cy="4114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 χ²</a:t>
            </a:r>
            <a:pPr indent="0" marL="0">
              <a:buNone/>
            </a:pPr>
            <a:r>
              <a:rPr lang="en-US" sz="1600" baseline="-40000" dirty="0">
                <a:solidFill>
                  <a:schemeClr val="tx1"/>
                </a:solidFill>
                <a:latin typeface="Cambria" pitchFamily="34" charset="0"/>
                <a:ea typeface="Cambria" pitchFamily="34" charset="-122"/>
                <a:cs typeface="Cambria" pitchFamily="34" charset="-120"/>
              </a:rPr>
              <a:t>α/2</a:t>
            </a:r>
            <a:pPr indent="0" marL="0">
              <a:buNone/>
            </a:pPr>
            <a:r>
              <a:rPr lang="en-US" sz="1600" dirty="0">
                <a:solidFill>
                  <a:schemeClr val="tx1"/>
                </a:solidFill>
                <a:latin typeface="Cambria" pitchFamily="34" charset="0"/>
                <a:ea typeface="Cambria" pitchFamily="34" charset="-122"/>
                <a:cs typeface="Cambria" pitchFamily="34" charset="-120"/>
              </a:rPr>
              <a:t>(2S) / 2m ,  χ²</a:t>
            </a:r>
            <a:pPr indent="0" marL="0">
              <a:buNone/>
            </a:pPr>
            <a:r>
              <a:rPr lang="en-US" sz="1600" baseline="-40000" dirty="0">
                <a:solidFill>
                  <a:schemeClr val="tx1"/>
                </a:solidFill>
                <a:latin typeface="Cambria" pitchFamily="34" charset="0"/>
                <a:ea typeface="Cambria" pitchFamily="34" charset="-122"/>
                <a:cs typeface="Cambria" pitchFamily="34" charset="-120"/>
              </a:rPr>
              <a:t>1−α/2</a:t>
            </a:r>
            <a:pPr indent="0" marL="0">
              <a:buNone/>
            </a:pPr>
            <a:r>
              <a:rPr lang="en-US" sz="1600" dirty="0">
                <a:solidFill>
                  <a:schemeClr val="tx1"/>
                </a:solidFill>
                <a:latin typeface="Cambria" pitchFamily="34" charset="0"/>
                <a:ea typeface="Cambria" pitchFamily="34" charset="-122"/>
                <a:cs typeface="Cambria" pitchFamily="34" charset="-120"/>
              </a:rPr>
              <a:t>(2S+2) / 2m ]</a:t>
            </a:r>
            <a:endParaRPr lang="en-US" sz="1600" dirty="0"/>
          </a:p>
        </p:txBody>
      </p:sp>
      <p:sp>
        <p:nvSpPr>
          <p:cNvPr id="14" name="formula note 3"/>
          <p:cNvSpPr txBox="1"/>
          <p:nvPr/>
        </p:nvSpPr>
        <p:spPr>
          <a:xfrm>
            <a:off x="685800" y="3904488"/>
            <a:ext cx="3566160" cy="365760"/>
          </a:xfrm>
          <a:prstGeom prst="rect">
            <a:avLst/>
          </a:prstGeom>
          <a:noFill/>
          <a:ln/>
        </p:spPr>
        <p:txBody>
          <a:bodyPr wrap="square" lIns="0" tIns="0" rIns="0" bIns="0" rtlCol="0" anchor="t"/>
          <a:lstStyle/>
          <a:p>
            <a:pPr indent="0" marL="0">
              <a:buNone/>
            </a:pPr>
            <a:r>
              <a:rPr lang="en-US" sz="1100" dirty="0">
                <a:solidFill>
                  <a:schemeClr val="tx1"/>
                </a:solidFill>
              </a:rPr>
              <a:t>S = total count over m days</a:t>
            </a:r>
            <a:endParaRPr lang="en-US" sz="1100" dirty="0"/>
          </a:p>
        </p:txBody>
      </p:sp>
      <p:sp>
        <p:nvSpPr>
          <p:cNvPr id="15" name="formula card 4"/>
          <p:cNvSpPr/>
          <p:nvPr/>
        </p:nvSpPr>
        <p:spPr>
          <a:xfrm>
            <a:off x="4663440" y="2880360"/>
            <a:ext cx="4023360" cy="1508760"/>
          </a:xfrm>
          <a:prstGeom prst="roundRect">
            <a:avLst>
              <a:gd name="adj" fmla="val 4848"/>
            </a:avLst>
          </a:prstGeom>
          <a:solidFill>
            <a:schemeClr val="bg2"/>
          </a:solidFill>
          <a:ln/>
        </p:spPr>
      </p:sp>
      <p:sp>
        <p:nvSpPr>
          <p:cNvPr id="16" name="formula title 4"/>
          <p:cNvSpPr txBox="1"/>
          <p:nvPr/>
        </p:nvSpPr>
        <p:spPr>
          <a:xfrm>
            <a:off x="4892040" y="3044952"/>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Poisson–Gamma and Bayes</a:t>
            </a:r>
            <a:endParaRPr lang="en-US" sz="1400" dirty="0"/>
          </a:p>
        </p:txBody>
      </p:sp>
      <p:sp>
        <p:nvSpPr>
          <p:cNvPr id="17" name="formula 4"/>
          <p:cNvSpPr txBox="1"/>
          <p:nvPr/>
        </p:nvSpPr>
        <p:spPr>
          <a:xfrm>
            <a:off x="4892040" y="3429000"/>
            <a:ext cx="3566160" cy="4114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 ~ Gamma(1/v, 1/v)  ⇒  X ~ NegBin(λ, v)</a:t>
            </a:r>
            <a:endParaRPr lang="en-US" sz="1600" dirty="0"/>
          </a:p>
        </p:txBody>
      </p:sp>
      <p:sp>
        <p:nvSpPr>
          <p:cNvPr id="18" name="formula note 4"/>
          <p:cNvSpPr txBox="1"/>
          <p:nvPr/>
        </p:nvSpPr>
        <p:spPr>
          <a:xfrm>
            <a:off x="4892040" y="3904488"/>
            <a:ext cx="3566160" cy="365760"/>
          </a:xfrm>
          <a:prstGeom prst="rect">
            <a:avLst/>
          </a:prstGeom>
          <a:noFill/>
          <a:ln/>
        </p:spPr>
        <p:txBody>
          <a:bodyPr wrap="square" lIns="0" tIns="0" rIns="0" bIns="0" rtlCol="0" anchor="t"/>
          <a:lstStyle/>
          <a:p>
            <a:pPr indent="0" marL="0">
              <a:buNone/>
            </a:pPr>
            <a:r>
              <a:rPr lang="en-US" sz="1100" dirty="0">
                <a:solidFill>
                  <a:schemeClr val="tx1"/>
                </a:solidFill>
              </a:rPr>
              <a:t>After early counts: W | x ~ Gamma(a + Σx, a + Σλ)</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Arrivals peak at 13:15–13:30, above capacity</a:t>
            </a:r>
            <a:endParaRPr lang="en-US" sz="2800" dirty="0"/>
          </a:p>
        </p:txBody>
      </p:sp>
      <p:graphicFrame>
        <p:nvGraphicFramePr>
          <p:cNvPr id="3" name="rates chart" descr=""/>
          <p:cNvGraphicFramePr/>
          <p:nvPr/>
        </p:nvGraphicFramePr>
        <p:xfrm>
          <a:off x="365760" y="1051560"/>
          <a:ext cx="5669280" cy="3520440"/>
        </p:xfrm>
        <a:graphic xmlns:a="http://schemas.openxmlformats.org/drawingml/2006/main">
          <a:graphicData uri="http://schemas.openxmlformats.org/drawingml/2006/chart">
            <c:chart xmlns:c="http://schemas.openxmlformats.org/drawingml/2006/chart" r:id="rId1"/>
          </a:graphicData>
        </a:graphic>
      </p:graphicFrame>
      <p:sp>
        <p:nvSpPr>
          <p:cNvPr id="4" name="rates panel"/>
          <p:cNvSpPr/>
          <p:nvPr/>
        </p:nvSpPr>
        <p:spPr>
          <a:xfrm>
            <a:off x="6309360" y="1188720"/>
            <a:ext cx="2377440" cy="3337560"/>
          </a:xfrm>
          <a:prstGeom prst="roundRect">
            <a:avLst>
              <a:gd name="adj" fmla="val 3077"/>
            </a:avLst>
          </a:prstGeom>
          <a:solidFill>
            <a:schemeClr val="bg2"/>
          </a:solidFill>
          <a:ln/>
        </p:spPr>
      </p:sp>
      <p:sp>
        <p:nvSpPr>
          <p:cNvPr id="5" name="peak rate value"/>
          <p:cNvSpPr txBox="1"/>
          <p:nvPr/>
        </p:nvSpPr>
        <p:spPr>
          <a:xfrm>
            <a:off x="6537960" y="1325880"/>
            <a:ext cx="201168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34.4</a:t>
            </a:r>
            <a:endParaRPr lang="en-US" sz="3200" dirty="0"/>
          </a:p>
        </p:txBody>
      </p:sp>
      <p:sp>
        <p:nvSpPr>
          <p:cNvPr id="6" name="peak rate label"/>
          <p:cNvSpPr txBox="1"/>
          <p:nvPr/>
        </p:nvSpPr>
        <p:spPr>
          <a:xfrm>
            <a:off x="6537960" y="1892808"/>
            <a:ext cx="2011680" cy="502920"/>
          </a:xfrm>
          <a:prstGeom prst="rect">
            <a:avLst/>
          </a:prstGeom>
          <a:noFill/>
          <a:ln/>
        </p:spPr>
        <p:txBody>
          <a:bodyPr wrap="square" lIns="0" tIns="0" rIns="0" bIns="0" rtlCol="0" anchor="t"/>
          <a:lstStyle/>
          <a:p>
            <a:pPr indent="0" marL="0">
              <a:buNone/>
            </a:pPr>
            <a:r>
              <a:rPr lang="en-US" sz="1200" dirty="0">
                <a:solidFill>
                  <a:schemeClr val="tx1"/>
                </a:solidFill>
              </a:rPr>
              <a:t>peak rate at 13:15–13:30; 95% CI [33.2, 35.6]</a:t>
            </a:r>
            <a:endParaRPr lang="en-US" sz="1200" dirty="0"/>
          </a:p>
        </p:txBody>
      </p:sp>
      <p:sp>
        <p:nvSpPr>
          <p:cNvPr id="7" name="lowest rate value"/>
          <p:cNvSpPr txBox="1"/>
          <p:nvPr/>
        </p:nvSpPr>
        <p:spPr>
          <a:xfrm>
            <a:off x="6537960" y="2423160"/>
            <a:ext cx="2011680" cy="54864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16.3</a:t>
            </a:r>
            <a:endParaRPr lang="en-US" sz="3200" dirty="0"/>
          </a:p>
        </p:txBody>
      </p:sp>
      <p:sp>
        <p:nvSpPr>
          <p:cNvPr id="8" name="lowest rate label"/>
          <p:cNvSpPr txBox="1"/>
          <p:nvPr/>
        </p:nvSpPr>
        <p:spPr>
          <a:xfrm>
            <a:off x="6537960" y="2990088"/>
            <a:ext cx="2011680" cy="502920"/>
          </a:xfrm>
          <a:prstGeom prst="rect">
            <a:avLst/>
          </a:prstGeom>
          <a:noFill/>
          <a:ln/>
        </p:spPr>
        <p:txBody>
          <a:bodyPr wrap="square" lIns="0" tIns="0" rIns="0" bIns="0" rtlCol="0" anchor="t"/>
          <a:lstStyle/>
          <a:p>
            <a:pPr indent="0" marL="0">
              <a:buNone/>
            </a:pPr>
            <a:r>
              <a:rPr lang="en-US" sz="1200" dirty="0">
                <a:solidFill>
                  <a:schemeClr val="tx1"/>
                </a:solidFill>
              </a:rPr>
              <a:t>lowest rate at 14:15–14:30</a:t>
            </a:r>
            <a:endParaRPr lang="en-US" sz="1200" dirty="0"/>
          </a:p>
        </p:txBody>
      </p:sp>
      <p:sp>
        <p:nvSpPr>
          <p:cNvPr id="9" name="slots above value"/>
          <p:cNvSpPr txBox="1"/>
          <p:nvPr/>
        </p:nvSpPr>
        <p:spPr>
          <a:xfrm>
            <a:off x="6537960" y="3520440"/>
            <a:ext cx="2011680" cy="548640"/>
          </a:xfrm>
          <a:prstGeom prst="rect">
            <a:avLst/>
          </a:prstGeom>
          <a:noFill/>
          <a:ln/>
        </p:spPr>
        <p:txBody>
          <a:bodyPr wrap="square" lIns="0" tIns="0" rIns="0" bIns="0" rtlCol="0" anchor="t"/>
          <a:lstStyle/>
          <a:p>
            <a:pPr indent="0" marL="0">
              <a:buNone/>
            </a:pPr>
            <a:r>
              <a:rPr lang="en-US" sz="3200" b="1" dirty="0">
                <a:solidFill>
                  <a:schemeClr val="accent3"/>
                </a:solidFill>
                <a:latin typeface="Cambria" pitchFamily="34" charset="0"/>
                <a:ea typeface="Cambria" pitchFamily="34" charset="-122"/>
                <a:cs typeface="Cambria" pitchFamily="34" charset="-120"/>
              </a:rPr>
              <a:t>2</a:t>
            </a:r>
            <a:endParaRPr lang="en-US" sz="3200" dirty="0"/>
          </a:p>
        </p:txBody>
      </p:sp>
      <p:sp>
        <p:nvSpPr>
          <p:cNvPr id="10" name="slots above label"/>
          <p:cNvSpPr txBox="1"/>
          <p:nvPr/>
        </p:nvSpPr>
        <p:spPr>
          <a:xfrm>
            <a:off x="6537960" y="4087368"/>
            <a:ext cx="2011680" cy="502920"/>
          </a:xfrm>
          <a:prstGeom prst="rect">
            <a:avLst/>
          </a:prstGeom>
          <a:noFill/>
          <a:ln/>
        </p:spPr>
        <p:txBody>
          <a:bodyPr wrap="square" lIns="0" tIns="0" rIns="0" bIns="0" rtlCol="0" anchor="t"/>
          <a:lstStyle/>
          <a:p>
            <a:pPr indent="0" marL="0">
              <a:buNone/>
            </a:pPr>
            <a:r>
              <a:rPr lang="en-US" sz="1200" dirty="0">
                <a:solidFill>
                  <a:schemeClr val="tx1"/>
                </a:solidFill>
              </a:rPr>
              <a:t>slots where the mean itself is above C</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Poisson model fits every slot</a:t>
            </a:r>
            <a:endParaRPr lang="en-US" sz="2800" dirty="0"/>
          </a:p>
        </p:txBody>
      </p:sp>
      <p:graphicFrame>
        <p:nvGraphicFramePr>
          <p:cNvPr id="10" name="fit table"/>
          <p:cNvGraphicFramePr>
            <a:graphicFrameLocks noGrp="1"/>
          </p:cNvGraphicFramePr>
          <p:nvPr>
            <p:extLst>
              <p:ext uri="{D42A27DB-BD31-4B8C-83A1-F6EECF244321}">
                <p14:modId xmlns:p14="http://schemas.microsoft.com/office/powerpoint/2010/main" val="1579011935"/>
              </p:ext>
            </p:extLst>
          </p:nvPr>
        </p:nvGraphicFramePr>
        <p:xfrm>
          <a:off x="457200" y="1143000"/>
          <a:ext cx="4937760" cy="914400"/>
        </p:xfrm>
        <a:graphic>
          <a:graphicData uri="http://schemas.openxmlformats.org/drawingml/2006/table">
            <a:tbl>
              <a:tblPr/>
              <a:tblGrid>
                <a:gridCol w="1234440"/>
                <a:gridCol w="777240"/>
                <a:gridCol w="1005840"/>
                <a:gridCol w="960120"/>
                <a:gridCol w="960120"/>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Slot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Mean λ</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Var / mean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χ² GOF 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r>
              <a:tr h="329184">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12:30-12:45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24.47</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1.09</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0.450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Fit OK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r>
              <a:tr h="329184">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12:45-13:00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29.42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1.34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0.552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Fit OK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29184">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13:00-13:15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33.37</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1.26</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0.309</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Fit OK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r>
              <a:tr h="329184">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13:15-13:30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34.36</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1.10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0.701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Fit OK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29184">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13:30-13:45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29.04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1.03</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0.218</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Fit OK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r>
              <a:tr h="329184">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13:45-14:00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24.72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1.25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0.310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Fit OK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29184">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14:00-14:15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19.12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1.34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0.148</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Fit OK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r>
              <a:tr h="329184">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14:15-14:30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16.33</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1.24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0.257</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1B2A4A"/>
                          </a:solidFill>
                          <a:latin typeface="Calibri" pitchFamily="34" charset="0"/>
                          <a:ea typeface="Calibri" pitchFamily="34" charset="-122"/>
                          <a:cs typeface="Calibri" pitchFamily="34" charset="-120"/>
                        </a:rPr>
                        <a:t>Fit OK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4" name="fit panel"/>
          <p:cNvSpPr/>
          <p:nvPr/>
        </p:nvSpPr>
        <p:spPr>
          <a:xfrm>
            <a:off x="5760720" y="1143000"/>
            <a:ext cx="2926080" cy="3383280"/>
          </a:xfrm>
          <a:prstGeom prst="roundRect">
            <a:avLst>
              <a:gd name="adj" fmla="val 2500"/>
            </a:avLst>
          </a:prstGeom>
          <a:solidFill>
            <a:schemeClr val="bg2"/>
          </a:solidFill>
          <a:ln/>
        </p:spPr>
      </p:sp>
      <p:sp>
        <p:nvSpPr>
          <p:cNvPr id="5" name="rejections value"/>
          <p:cNvSpPr txBox="1"/>
          <p:nvPr/>
        </p:nvSpPr>
        <p:spPr>
          <a:xfrm>
            <a:off x="5989320" y="1280160"/>
            <a:ext cx="256032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0 of 8</a:t>
            </a:r>
            <a:endParaRPr lang="en-US" sz="3200" dirty="0"/>
          </a:p>
        </p:txBody>
      </p:sp>
      <p:sp>
        <p:nvSpPr>
          <p:cNvPr id="6" name="rejections label"/>
          <p:cNvSpPr txBox="1"/>
          <p:nvPr/>
        </p:nvSpPr>
        <p:spPr>
          <a:xfrm>
            <a:off x="5989320" y="1847088"/>
            <a:ext cx="2560320" cy="502920"/>
          </a:xfrm>
          <a:prstGeom prst="rect">
            <a:avLst/>
          </a:prstGeom>
          <a:noFill/>
          <a:ln/>
        </p:spPr>
        <p:txBody>
          <a:bodyPr wrap="square" lIns="0" tIns="0" rIns="0" bIns="0" rtlCol="0" anchor="t"/>
          <a:lstStyle/>
          <a:p>
            <a:pPr indent="0" marL="0">
              <a:buNone/>
            </a:pPr>
            <a:r>
              <a:rPr lang="en-US" sz="1200" dirty="0">
                <a:solidFill>
                  <a:schemeClr val="tx1"/>
                </a:solidFill>
              </a:rPr>
              <a:t>slots reject Poisson at α = 0.05 (0.4 expected by chance)</a:t>
            </a:r>
            <a:endParaRPr lang="en-US" sz="1200" dirty="0"/>
          </a:p>
        </p:txBody>
      </p:sp>
      <p:sp>
        <p:nvSpPr>
          <p:cNvPr id="7" name="ratio value"/>
          <p:cNvSpPr txBox="1"/>
          <p:nvPr/>
        </p:nvSpPr>
        <p:spPr>
          <a:xfrm>
            <a:off x="5989320" y="2331720"/>
            <a:ext cx="2560320" cy="54864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 1</a:t>
            </a:r>
            <a:endParaRPr lang="en-US" sz="3200" dirty="0"/>
          </a:p>
        </p:txBody>
      </p:sp>
      <p:sp>
        <p:nvSpPr>
          <p:cNvPr id="8" name="ratio label"/>
          <p:cNvSpPr txBox="1"/>
          <p:nvPr/>
        </p:nvSpPr>
        <p:spPr>
          <a:xfrm>
            <a:off x="5989320" y="2898648"/>
            <a:ext cx="2560320" cy="502920"/>
          </a:xfrm>
          <a:prstGeom prst="rect">
            <a:avLst/>
          </a:prstGeom>
          <a:noFill/>
          <a:ln/>
        </p:spPr>
        <p:txBody>
          <a:bodyPr wrap="square" lIns="0" tIns="0" rIns="0" bIns="0" rtlCol="0" anchor="t"/>
          <a:lstStyle/>
          <a:p>
            <a:pPr indent="0" marL="0">
              <a:buNone/>
            </a:pPr>
            <a:r>
              <a:rPr lang="en-US" sz="1200" dirty="0">
                <a:solidFill>
                  <a:schemeClr val="tx1"/>
                </a:solidFill>
              </a:rPr>
              <a:t>variance-to-mean ratio, as Poisson requires</a:t>
            </a:r>
            <a:endParaRPr lang="en-US" sz="1200" dirty="0"/>
          </a:p>
        </p:txBody>
      </p:sp>
      <p:sp>
        <p:nvSpPr>
          <p:cNvPr id="9" name="fit note"/>
          <p:cNvSpPr txBox="1"/>
          <p:nvPr/>
        </p:nvSpPr>
        <p:spPr>
          <a:xfrm>
            <a:off x="5989320" y="3429000"/>
            <a:ext cx="2560320" cy="914400"/>
          </a:xfrm>
          <a:prstGeom prst="rect">
            <a:avLst/>
          </a:prstGeom>
          <a:noFill/>
          <a:ln/>
        </p:spPr>
        <p:txBody>
          <a:bodyPr wrap="square" lIns="0" tIns="0" rIns="0" bIns="0" rtlCol="0" anchor="t"/>
          <a:lstStyle/>
          <a:p>
            <a:pPr indent="0" marL="0">
              <a:buNone/>
            </a:pPr>
            <a:r>
              <a:rPr lang="en-US" sz="1100" dirty="0">
                <a:solidFill>
                  <a:schemeClr val="tx1"/>
                </a:solidFill>
              </a:rPr>
              <a:t>Categories merged until expected count ≥ 5 (Cochran); df = k − 2 because λ is estimated.</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Overload risk: two slots are high risk</a:t>
            </a:r>
            <a:endParaRPr lang="en-US" sz="2800" dirty="0"/>
          </a:p>
        </p:txBody>
      </p:sp>
      <p:graphicFrame>
        <p:nvGraphicFramePr>
          <p:cNvPr id="3" name="overload chart" descr=""/>
          <p:cNvGraphicFramePr/>
          <p:nvPr/>
        </p:nvGraphicFramePr>
        <p:xfrm>
          <a:off x="365760" y="1051560"/>
          <a:ext cx="5669280" cy="3520440"/>
        </p:xfrm>
        <a:graphic xmlns:a="http://schemas.openxmlformats.org/drawingml/2006/main">
          <a:graphicData uri="http://schemas.openxmlformats.org/drawingml/2006/chart">
            <c:chart xmlns:c="http://schemas.openxmlformats.org/drawingml/2006/chart" r:id="rId1"/>
          </a:graphicData>
        </a:graphic>
      </p:graphicFrame>
      <p:sp>
        <p:nvSpPr>
          <p:cNvPr id="4" name="overload panel"/>
          <p:cNvSpPr/>
          <p:nvPr/>
        </p:nvSpPr>
        <p:spPr>
          <a:xfrm>
            <a:off x="6309360" y="1188720"/>
            <a:ext cx="2377440" cy="3337560"/>
          </a:xfrm>
          <a:prstGeom prst="roundRect">
            <a:avLst>
              <a:gd name="adj" fmla="val 3077"/>
            </a:avLst>
          </a:prstGeom>
          <a:solidFill>
            <a:schemeClr val="bg2"/>
          </a:solidFill>
          <a:ln/>
        </p:spPr>
      </p:sp>
      <p:sp>
        <p:nvSpPr>
          <p:cNvPr id="5" name="max overload value"/>
          <p:cNvSpPr txBox="1"/>
          <p:nvPr/>
        </p:nvSpPr>
        <p:spPr>
          <a:xfrm>
            <a:off x="6537960" y="1325880"/>
            <a:ext cx="2011680" cy="548640"/>
          </a:xfrm>
          <a:prstGeom prst="rect">
            <a:avLst/>
          </a:prstGeom>
          <a:noFill/>
          <a:ln/>
        </p:spPr>
        <p:txBody>
          <a:bodyPr wrap="square" lIns="0" tIns="0" rIns="0" bIns="0" rtlCol="0" anchor="t"/>
          <a:lstStyle/>
          <a:p>
            <a:pPr indent="0" marL="0">
              <a:buNone/>
            </a:pPr>
            <a:r>
              <a:rPr lang="en-US" sz="3200" b="1" dirty="0">
                <a:solidFill>
                  <a:schemeClr val="accent3"/>
                </a:solidFill>
                <a:latin typeface="Cambria" pitchFamily="34" charset="0"/>
                <a:ea typeface="Cambria" pitchFamily="34" charset="-122"/>
                <a:cs typeface="Cambria" pitchFamily="34" charset="-120"/>
              </a:rPr>
              <a:t>73.9%</a:t>
            </a:r>
            <a:endParaRPr lang="en-US" sz="3200" dirty="0"/>
          </a:p>
        </p:txBody>
      </p:sp>
      <p:sp>
        <p:nvSpPr>
          <p:cNvPr id="6" name="max overload label"/>
          <p:cNvSpPr txBox="1"/>
          <p:nvPr/>
        </p:nvSpPr>
        <p:spPr>
          <a:xfrm>
            <a:off x="6537960" y="1892808"/>
            <a:ext cx="2011680" cy="502920"/>
          </a:xfrm>
          <a:prstGeom prst="rect">
            <a:avLst/>
          </a:prstGeom>
          <a:noFill/>
          <a:ln/>
        </p:spPr>
        <p:txBody>
          <a:bodyPr wrap="square" lIns="0" tIns="0" rIns="0" bIns="0" rtlCol="0" anchor="t"/>
          <a:lstStyle/>
          <a:p>
            <a:pPr indent="0" marL="0">
              <a:buNone/>
            </a:pPr>
            <a:r>
              <a:rPr lang="en-US" sz="1200" dirty="0">
                <a:solidFill>
                  <a:schemeClr val="tx1"/>
                </a:solidFill>
              </a:rPr>
              <a:t>chance of overload at 13:15–13:30</a:t>
            </a:r>
            <a:endParaRPr lang="en-US" sz="1200" dirty="0"/>
          </a:p>
        </p:txBody>
      </p:sp>
      <p:sp>
        <p:nvSpPr>
          <p:cNvPr id="7" name="required capacity value"/>
          <p:cNvSpPr txBox="1"/>
          <p:nvPr/>
        </p:nvSpPr>
        <p:spPr>
          <a:xfrm>
            <a:off x="6537960" y="2423160"/>
            <a:ext cx="201168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39</a:t>
            </a:r>
            <a:endParaRPr lang="en-US" sz="3200" dirty="0"/>
          </a:p>
        </p:txBody>
      </p:sp>
      <p:sp>
        <p:nvSpPr>
          <p:cNvPr id="8" name="required capacity label"/>
          <p:cNvSpPr txBox="1"/>
          <p:nvPr/>
        </p:nvSpPr>
        <p:spPr>
          <a:xfrm>
            <a:off x="6537960" y="2990088"/>
            <a:ext cx="2011680" cy="502920"/>
          </a:xfrm>
          <a:prstGeom prst="rect">
            <a:avLst/>
          </a:prstGeom>
          <a:noFill/>
          <a:ln/>
        </p:spPr>
        <p:txBody>
          <a:bodyPr wrap="square" lIns="0" tIns="0" rIns="0" bIns="0" rtlCol="0" anchor="t"/>
          <a:lstStyle/>
          <a:p>
            <a:pPr indent="0" marL="0">
              <a:buNone/>
            </a:pPr>
            <a:r>
              <a:rPr lang="en-US" sz="1200" dirty="0">
                <a:solidFill>
                  <a:schemeClr val="tx1"/>
                </a:solidFill>
              </a:rPr>
              <a:t>capacity per slot needed to keep every slot below 20%</a:t>
            </a:r>
            <a:endParaRPr lang="en-US" sz="1200" dirty="0"/>
          </a:p>
        </p:txBody>
      </p:sp>
      <p:sp>
        <p:nvSpPr>
          <p:cNvPr id="9" name="risk counts"/>
          <p:cNvSpPr txBox="1"/>
          <p:nvPr/>
        </p:nvSpPr>
        <p:spPr>
          <a:xfrm>
            <a:off x="6537960" y="3611880"/>
            <a:ext cx="2011680" cy="365760"/>
          </a:xfrm>
          <a:prstGeom prst="rect">
            <a:avLst/>
          </a:prstGeom>
          <a:noFill/>
          <a:ln/>
        </p:spPr>
        <p:txBody>
          <a:bodyPr wrap="square" lIns="0" tIns="0" rIns="0" bIns="0" rtlCol="0" anchor="t"/>
          <a:lstStyle/>
          <a:p>
            <a:pPr indent="0" marL="0">
              <a:buNone/>
            </a:pPr>
            <a:r>
              <a:rPr lang="en-US" sz="1400" b="1" dirty="0">
                <a:solidFill>
                  <a:schemeClr val="accent3"/>
                </a:solidFill>
              </a:rPr>
              <a:t>High </a:t>
            </a:r>
            <a:pPr indent="0" marL="0">
              <a:buNone/>
            </a:pPr>
            <a:r>
              <a:rPr lang="en-US" sz="1400" dirty="0">
                <a:solidFill>
                  <a:schemeClr val="tx1"/>
                </a:solidFill>
              </a:rPr>
              <a:t>2   </a:t>
            </a:r>
            <a:pPr indent="0" marL="0">
              <a:buNone/>
            </a:pPr>
            <a:r>
              <a:rPr lang="en-US" sz="1400" b="1" dirty="0">
                <a:solidFill>
                  <a:schemeClr val="accent4"/>
                </a:solidFill>
              </a:rPr>
              <a:t>Medium </a:t>
            </a:r>
            <a:pPr indent="0" marL="0">
              <a:buNone/>
            </a:pPr>
            <a:r>
              <a:rPr lang="en-US" sz="1400" dirty="0">
                <a:solidFill>
                  <a:schemeClr val="tx1"/>
                </a:solidFill>
              </a:rPr>
              <a:t>2   </a:t>
            </a:r>
            <a:pPr indent="0" marL="0">
              <a:buNone/>
            </a:pPr>
            <a:r>
              <a:rPr lang="en-US" sz="1400" b="1" dirty="0">
                <a:solidFill>
                  <a:schemeClr val="accent5"/>
                </a:solidFill>
              </a:rPr>
              <a:t>Low </a:t>
            </a:r>
            <a:pPr indent="0" marL="0">
              <a:buNone/>
            </a:pPr>
            <a:r>
              <a:rPr lang="en-US" sz="1400" dirty="0">
                <a:solidFill>
                  <a:schemeClr val="tx1"/>
                </a:solidFill>
              </a:rPr>
              <a:t>4</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quietest time is genuinely quieter</a:t>
            </a:r>
            <a:endParaRPr lang="en-US" sz="2800" dirty="0"/>
          </a:p>
        </p:txBody>
      </p:sp>
      <p:sp>
        <p:nvSpPr>
          <p:cNvPr id="3" name="quiet best card"/>
          <p:cNvSpPr/>
          <p:nvPr/>
        </p:nvSpPr>
        <p:spPr>
          <a:xfrm>
            <a:off x="457200" y="1188720"/>
            <a:ext cx="2651760" cy="1554480"/>
          </a:xfrm>
          <a:prstGeom prst="roundRect">
            <a:avLst>
              <a:gd name="adj" fmla="val 4706"/>
            </a:avLst>
          </a:prstGeom>
          <a:solidFill>
            <a:schemeClr val="bg2"/>
          </a:solidFill>
          <a:ln/>
        </p:spPr>
      </p:sp>
      <p:sp>
        <p:nvSpPr>
          <p:cNvPr id="4" name="quiet best value"/>
          <p:cNvSpPr txBox="1"/>
          <p:nvPr/>
        </p:nvSpPr>
        <p:spPr>
          <a:xfrm>
            <a:off x="731520" y="1371600"/>
            <a:ext cx="2194560" cy="548640"/>
          </a:xfrm>
          <a:prstGeom prst="rect">
            <a:avLst/>
          </a:prstGeom>
          <a:noFill/>
          <a:ln/>
        </p:spPr>
        <p:txBody>
          <a:bodyPr wrap="square" lIns="0" tIns="0" rIns="0" bIns="0" rtlCol="0" anchor="t"/>
          <a:lstStyle/>
          <a:p>
            <a:pPr indent="0" marL="0">
              <a:buNone/>
            </a:pPr>
            <a:r>
              <a:rPr lang="en-US" sz="3200" b="1" dirty="0">
                <a:solidFill>
                  <a:schemeClr val="accent5"/>
                </a:solidFill>
                <a:latin typeface="Cambria" pitchFamily="34" charset="0"/>
                <a:ea typeface="Cambria" pitchFamily="34" charset="-122"/>
                <a:cs typeface="Cambria" pitchFamily="34" charset="-120"/>
              </a:rPr>
              <a:t>16.3</a:t>
            </a:r>
            <a:endParaRPr lang="en-US" sz="3200" dirty="0"/>
          </a:p>
        </p:txBody>
      </p:sp>
      <p:sp>
        <p:nvSpPr>
          <p:cNvPr id="5" name="quiet best label"/>
          <p:cNvSpPr txBox="1"/>
          <p:nvPr/>
        </p:nvSpPr>
        <p:spPr>
          <a:xfrm>
            <a:off x="731520" y="1938528"/>
            <a:ext cx="2194560" cy="502920"/>
          </a:xfrm>
          <a:prstGeom prst="rect">
            <a:avLst/>
          </a:prstGeom>
          <a:noFill/>
          <a:ln/>
        </p:spPr>
        <p:txBody>
          <a:bodyPr wrap="square" lIns="0" tIns="0" rIns="0" bIns="0" rtlCol="0" anchor="t"/>
          <a:lstStyle/>
          <a:p>
            <a:pPr indent="0" marL="0">
              <a:buNone/>
            </a:pPr>
            <a:r>
              <a:rPr lang="en-US" sz="1200" dirty="0">
                <a:solidFill>
                  <a:schemeClr val="tx1"/>
                </a:solidFill>
              </a:rPr>
              <a:t>students on average at 14:15–14:30 (quietest)</a:t>
            </a:r>
            <a:endParaRPr lang="en-US" sz="1200" dirty="0"/>
          </a:p>
        </p:txBody>
      </p:sp>
      <p:sp>
        <p:nvSpPr>
          <p:cNvPr id="6" name="quiet runner card"/>
          <p:cNvSpPr/>
          <p:nvPr/>
        </p:nvSpPr>
        <p:spPr>
          <a:xfrm>
            <a:off x="3291840" y="1188720"/>
            <a:ext cx="2651760" cy="1554480"/>
          </a:xfrm>
          <a:prstGeom prst="roundRect">
            <a:avLst>
              <a:gd name="adj" fmla="val 4706"/>
            </a:avLst>
          </a:prstGeom>
          <a:solidFill>
            <a:schemeClr val="bg2"/>
          </a:solidFill>
          <a:ln/>
        </p:spPr>
      </p:sp>
      <p:sp>
        <p:nvSpPr>
          <p:cNvPr id="7" name="quiet runner value"/>
          <p:cNvSpPr txBox="1"/>
          <p:nvPr/>
        </p:nvSpPr>
        <p:spPr>
          <a:xfrm>
            <a:off x="3566160" y="1371600"/>
            <a:ext cx="2194560" cy="54864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19.1</a:t>
            </a:r>
            <a:endParaRPr lang="en-US" sz="3200" dirty="0"/>
          </a:p>
        </p:txBody>
      </p:sp>
      <p:sp>
        <p:nvSpPr>
          <p:cNvPr id="8" name="quiet runner label"/>
          <p:cNvSpPr txBox="1"/>
          <p:nvPr/>
        </p:nvSpPr>
        <p:spPr>
          <a:xfrm>
            <a:off x="3566160" y="1938528"/>
            <a:ext cx="2194560" cy="502920"/>
          </a:xfrm>
          <a:prstGeom prst="rect">
            <a:avLst/>
          </a:prstGeom>
          <a:noFill/>
          <a:ln/>
        </p:spPr>
        <p:txBody>
          <a:bodyPr wrap="square" lIns="0" tIns="0" rIns="0" bIns="0" rtlCol="0" anchor="t"/>
          <a:lstStyle/>
          <a:p>
            <a:pPr indent="0" marL="0">
              <a:buNone/>
            </a:pPr>
            <a:r>
              <a:rPr lang="en-US" sz="1200" dirty="0">
                <a:solidFill>
                  <a:schemeClr val="tx1"/>
                </a:solidFill>
              </a:rPr>
              <a:t>at 14:00–14:15 (next quietest)</a:t>
            </a:r>
            <a:endParaRPr lang="en-US" sz="1200" dirty="0"/>
          </a:p>
        </p:txBody>
      </p:sp>
      <p:sp>
        <p:nvSpPr>
          <p:cNvPr id="9" name="quiet p card"/>
          <p:cNvSpPr/>
          <p:nvPr/>
        </p:nvSpPr>
        <p:spPr>
          <a:xfrm>
            <a:off x="6126480" y="1188720"/>
            <a:ext cx="2560320" cy="1554480"/>
          </a:xfrm>
          <a:prstGeom prst="roundRect">
            <a:avLst>
              <a:gd name="adj" fmla="val 4706"/>
            </a:avLst>
          </a:prstGeom>
          <a:solidFill>
            <a:srgbClr val="1B2A4A"/>
          </a:solidFill>
          <a:ln/>
        </p:spPr>
      </p:sp>
      <p:sp>
        <p:nvSpPr>
          <p:cNvPr id="10" name="quiet p value"/>
          <p:cNvSpPr txBox="1"/>
          <p:nvPr/>
        </p:nvSpPr>
        <p:spPr>
          <a:xfrm>
            <a:off x="6355080" y="1371600"/>
            <a:ext cx="2194560" cy="54864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p = 5.2 × 10⁻⁶</a:t>
            </a:r>
            <a:endParaRPr lang="en-US" sz="2600" dirty="0"/>
          </a:p>
        </p:txBody>
      </p:sp>
      <p:sp>
        <p:nvSpPr>
          <p:cNvPr id="11" name="quiet p label"/>
          <p:cNvSpPr txBox="1"/>
          <p:nvPr/>
        </p:nvSpPr>
        <p:spPr>
          <a:xfrm>
            <a:off x="6355080" y="1965960"/>
            <a:ext cx="2194560" cy="548640"/>
          </a:xfrm>
          <a:prstGeom prst="rect">
            <a:avLst/>
          </a:prstGeom>
          <a:noFill/>
          <a:ln/>
        </p:spPr>
        <p:txBody>
          <a:bodyPr wrap="square" lIns="0" tIns="0" rIns="0" bIns="0" rtlCol="0" anchor="t"/>
          <a:lstStyle/>
          <a:p>
            <a:pPr indent="0" marL="0">
              <a:buNone/>
            </a:pPr>
            <a:r>
              <a:rPr lang="en-US" sz="1200" dirty="0">
                <a:solidFill>
                  <a:srgbClr val="9FD4D6"/>
                </a:solidFill>
              </a:rPr>
              <a:t>exact conditional test: significantly quieter</a:t>
            </a:r>
            <a:endParaRPr lang="en-US" sz="1200" dirty="0"/>
          </a:p>
        </p:txBody>
      </p:sp>
      <p:sp>
        <p:nvSpPr>
          <p:cNvPr id="12" name="quiet text"/>
          <p:cNvSpPr txBox="1"/>
          <p:nvPr/>
        </p:nvSpPr>
        <p:spPr>
          <a:xfrm>
            <a:off x="457200" y="3063240"/>
            <a:ext cx="8229600" cy="1097280"/>
          </a:xfrm>
          <a:prstGeom prst="rect">
            <a:avLst/>
          </a:prstGeom>
          <a:noFill/>
          <a:ln/>
        </p:spPr>
        <p:txBody>
          <a:bodyPr wrap="square" lIns="0" tIns="0" rIns="0" bIns="0" rtlCol="0" anchor="t"/>
          <a:lstStyle/>
          <a:p>
            <a:pPr indent="0" marL="0">
              <a:buNone/>
            </a:pPr>
            <a:r>
              <a:rPr lang="en-US" sz="1500" b="1" dirty="0">
                <a:solidFill>
                  <a:schemeClr val="tx1"/>
                </a:solidFill>
              </a:rPr>
              <a:t>How the test works. </a:t>
            </a:r>
            <a:pPr indent="0" marL="0">
              <a:buNone/>
            </a:pPr>
            <a:r>
              <a:rPr lang="en-US" sz="1500" dirty="0">
                <a:solidFill>
                  <a:schemeClr val="tx1"/>
                </a:solidFill>
              </a:rPr>
              <a:t>Under H₀: λ₁ = λ₂, the count in the quietest slot given the combined count is binomial: S₁ | (S₁ + S₂) ~ Bin(S₁ + S₂, m₁ / (m₁ + m₂)). A tiny p-value means the difference is not chance.</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Weekday and exam weeks shift the whole day</a:t>
            </a:r>
            <a:endParaRPr lang="en-US" sz="2800" dirty="0"/>
          </a:p>
        </p:txBody>
      </p:sp>
      <p:graphicFrame>
        <p:nvGraphicFramePr>
          <p:cNvPr id="3" name="effects chart" descr=""/>
          <p:cNvGraphicFramePr/>
          <p:nvPr/>
        </p:nvGraphicFramePr>
        <p:xfrm>
          <a:off x="365760" y="105156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4" name="model panel"/>
          <p:cNvSpPr/>
          <p:nvPr/>
        </p:nvSpPr>
        <p:spPr>
          <a:xfrm>
            <a:off x="5760720" y="1188720"/>
            <a:ext cx="2926080" cy="3337560"/>
          </a:xfrm>
          <a:prstGeom prst="roundRect">
            <a:avLst>
              <a:gd name="adj" fmla="val 2500"/>
            </a:avLst>
          </a:prstGeom>
          <a:solidFill>
            <a:schemeClr val="bg2"/>
          </a:solidFill>
          <a:ln/>
        </p:spPr>
      </p:sp>
      <p:sp>
        <p:nvSpPr>
          <p:cNvPr id="5" name="r2 value"/>
          <p:cNvSpPr txBox="1"/>
          <p:nvPr/>
        </p:nvSpPr>
        <p:spPr>
          <a:xfrm>
            <a:off x="5989320" y="1325880"/>
            <a:ext cx="256032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R² = 0.58</a:t>
            </a:r>
            <a:endParaRPr lang="en-US" sz="3200" dirty="0"/>
          </a:p>
        </p:txBody>
      </p:sp>
      <p:sp>
        <p:nvSpPr>
          <p:cNvPr id="6" name="r2 label"/>
          <p:cNvSpPr txBox="1"/>
          <p:nvPr/>
        </p:nvSpPr>
        <p:spPr>
          <a:xfrm>
            <a:off x="5989320" y="1892808"/>
            <a:ext cx="2560320" cy="502920"/>
          </a:xfrm>
          <a:prstGeom prst="rect">
            <a:avLst/>
          </a:prstGeom>
          <a:noFill/>
          <a:ln/>
        </p:spPr>
        <p:txBody>
          <a:bodyPr wrap="square" lIns="0" tIns="0" rIns="0" bIns="0" rtlCol="0" anchor="t"/>
          <a:lstStyle/>
          <a:p>
            <a:pPr indent="0" marL="0">
              <a:buNone/>
            </a:pPr>
            <a:r>
              <a:rPr lang="en-US" sz="1200" dirty="0">
                <a:solidFill>
                  <a:schemeClr val="tx1"/>
                </a:solidFill>
              </a:rPr>
              <a:t>ln(x + 0.5) ~ slot + weekday + day type, smearing back-transform</a:t>
            </a:r>
            <a:endParaRPr lang="en-US" sz="1200" dirty="0"/>
          </a:p>
        </p:txBody>
      </p:sp>
      <p:sp>
        <p:nvSpPr>
          <p:cNvPr id="7" name="exam effect value"/>
          <p:cNvSpPr txBox="1"/>
          <p:nvPr/>
        </p:nvSpPr>
        <p:spPr>
          <a:xfrm>
            <a:off x="5989320" y="2423160"/>
            <a:ext cx="256032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−11.3%</a:t>
            </a:r>
            <a:endParaRPr lang="en-US" sz="3200" dirty="0"/>
          </a:p>
        </p:txBody>
      </p:sp>
      <p:sp>
        <p:nvSpPr>
          <p:cNvPr id="8" name="exam effect label"/>
          <p:cNvSpPr txBox="1"/>
          <p:nvPr/>
        </p:nvSpPr>
        <p:spPr>
          <a:xfrm>
            <a:off x="5989320" y="2990088"/>
            <a:ext cx="2560320" cy="502920"/>
          </a:xfrm>
          <a:prstGeom prst="rect">
            <a:avLst/>
          </a:prstGeom>
          <a:noFill/>
          <a:ln/>
        </p:spPr>
        <p:txBody>
          <a:bodyPr wrap="square" lIns="0" tIns="0" rIns="0" bIns="0" rtlCol="0" anchor="t"/>
          <a:lstStyle/>
          <a:p>
            <a:pPr indent="0" marL="0">
              <a:buNone/>
            </a:pPr>
            <a:r>
              <a:rPr lang="en-US" sz="1200" dirty="0">
                <a:solidFill>
                  <a:schemeClr val="tx1"/>
                </a:solidFill>
              </a:rPr>
              <a:t>exam weeks (Welch t-test p = 0.0005)</a:t>
            </a:r>
            <a:endParaRPr lang="en-US" sz="1200" dirty="0"/>
          </a:p>
        </p:txBody>
      </p:sp>
      <p:sp>
        <p:nvSpPr>
          <p:cNvPr id="9" name="model note"/>
          <p:cNvSpPr txBox="1"/>
          <p:nvPr/>
        </p:nvSpPr>
        <p:spPr>
          <a:xfrm>
            <a:off x="5989320" y="3611880"/>
            <a:ext cx="2560320" cy="731520"/>
          </a:xfrm>
          <a:prstGeom prst="rect">
            <a:avLst/>
          </a:prstGeom>
          <a:noFill/>
          <a:ln/>
        </p:spPr>
        <p:txBody>
          <a:bodyPr wrap="square" lIns="0" tIns="0" rIns="0" bIns="0" rtlCol="0" anchor="t"/>
          <a:lstStyle/>
          <a:p>
            <a:pPr indent="0" marL="0">
              <a:buNone/>
            </a:pPr>
            <a:r>
              <a:rPr lang="en-US" sz="1100" dirty="0">
                <a:solidFill>
                  <a:schemeClr val="tx1"/>
                </a:solidFill>
              </a:rPr>
              <a:t>Dark bars: p &lt; 0.05. Weekday differences in daily totals: ANOVA p = 0.091.</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Whole days vary a little more than Poisson allows</a:t>
            </a:r>
            <a:endParaRPr lang="en-US" sz="2800" dirty="0"/>
          </a:p>
        </p:txBody>
      </p:sp>
      <p:graphicFrame>
        <p:nvGraphicFramePr>
          <p:cNvPr id="3" name="mixture chart" descr=""/>
          <p:cNvGraphicFramePr/>
          <p:nvPr/>
        </p:nvGraphicFramePr>
        <p:xfrm>
          <a:off x="365760" y="1051560"/>
          <a:ext cx="5669280" cy="3520440"/>
        </p:xfrm>
        <a:graphic xmlns:a="http://schemas.openxmlformats.org/drawingml/2006/main">
          <a:graphicData uri="http://schemas.openxmlformats.org/drawingml/2006/chart">
            <c:chart xmlns:c="http://schemas.openxmlformats.org/drawingml/2006/chart" r:id="rId1"/>
          </a:graphicData>
        </a:graphic>
      </p:graphicFrame>
      <p:sp>
        <p:nvSpPr>
          <p:cNvPr id="4" name="mixture panel"/>
          <p:cNvSpPr/>
          <p:nvPr/>
        </p:nvSpPr>
        <p:spPr>
          <a:xfrm>
            <a:off x="6309360" y="1188720"/>
            <a:ext cx="2377440" cy="3337560"/>
          </a:xfrm>
          <a:prstGeom prst="roundRect">
            <a:avLst>
              <a:gd name="adj" fmla="val 3077"/>
            </a:avLst>
          </a:prstGeom>
          <a:solidFill>
            <a:schemeClr val="bg2"/>
          </a:solidFill>
          <a:ln/>
        </p:spPr>
      </p:sp>
      <p:sp>
        <p:nvSpPr>
          <p:cNvPr id="5" name="pearson value"/>
          <p:cNvSpPr txBox="1"/>
          <p:nvPr/>
        </p:nvSpPr>
        <p:spPr>
          <a:xfrm>
            <a:off x="6537960" y="1325880"/>
            <a:ext cx="2011680" cy="548640"/>
          </a:xfrm>
          <a:prstGeom prst="rect">
            <a:avLst/>
          </a:prstGeom>
          <a:noFill/>
          <a:ln/>
        </p:spPr>
        <p:txBody>
          <a:bodyPr wrap="square" lIns="0" tIns="0" rIns="0" bIns="0" rtlCol="0" anchor="t"/>
          <a:lstStyle/>
          <a:p>
            <a:pPr indent="0" marL="0">
              <a:buNone/>
            </a:pPr>
            <a:r>
              <a:rPr lang="en-US" sz="3200" b="1" dirty="0">
                <a:solidFill>
                  <a:schemeClr val="accent3"/>
                </a:solidFill>
                <a:latin typeface="Cambria" pitchFamily="34" charset="0"/>
                <a:ea typeface="Cambria" pitchFamily="34" charset="-122"/>
                <a:cs typeface="Cambria" pitchFamily="34" charset="-120"/>
              </a:rPr>
              <a:t>p = 0.003</a:t>
            </a:r>
            <a:endParaRPr lang="en-US" sz="3200" dirty="0"/>
          </a:p>
        </p:txBody>
      </p:sp>
      <p:sp>
        <p:nvSpPr>
          <p:cNvPr id="6" name="pearson label"/>
          <p:cNvSpPr txBox="1"/>
          <p:nvPr/>
        </p:nvSpPr>
        <p:spPr>
          <a:xfrm>
            <a:off x="6537960" y="1892808"/>
            <a:ext cx="2011680" cy="502920"/>
          </a:xfrm>
          <a:prstGeom prst="rect">
            <a:avLst/>
          </a:prstGeom>
          <a:noFill/>
          <a:ln/>
        </p:spPr>
        <p:txBody>
          <a:bodyPr wrap="square" lIns="0" tIns="0" rIns="0" bIns="0" rtlCol="0" anchor="t"/>
          <a:lstStyle/>
          <a:p>
            <a:pPr indent="0" marL="0">
              <a:buNone/>
            </a:pPr>
            <a:r>
              <a:rPr lang="en-US" sz="1200" dirty="0">
                <a:solidFill>
                  <a:schemeClr val="tx1"/>
                </a:solidFill>
              </a:rPr>
              <a:t>Pearson χ² = 812 on 704 df: day-to-day variation exists</a:t>
            </a:r>
            <a:endParaRPr lang="en-US" sz="1200" dirty="0"/>
          </a:p>
        </p:txBody>
      </p:sp>
      <p:sp>
        <p:nvSpPr>
          <p:cNvPr id="7" name="v hat value"/>
          <p:cNvSpPr txBox="1"/>
          <p:nvPr/>
        </p:nvSpPr>
        <p:spPr>
          <a:xfrm>
            <a:off x="6537960" y="2423160"/>
            <a:ext cx="2011680" cy="54864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v̂ = 0.006</a:t>
            </a:r>
            <a:endParaRPr lang="en-US" sz="3200" dirty="0"/>
          </a:p>
        </p:txBody>
      </p:sp>
      <p:sp>
        <p:nvSpPr>
          <p:cNvPr id="8" name="v hat label"/>
          <p:cNvSpPr txBox="1"/>
          <p:nvPr/>
        </p:nvSpPr>
        <p:spPr>
          <a:xfrm>
            <a:off x="6537960" y="2990088"/>
            <a:ext cx="2011680" cy="502920"/>
          </a:xfrm>
          <a:prstGeom prst="rect">
            <a:avLst/>
          </a:prstGeom>
          <a:noFill/>
          <a:ln/>
        </p:spPr>
        <p:txBody>
          <a:bodyPr wrap="square" lIns="0" tIns="0" rIns="0" bIns="0" rtlCol="0" anchor="t"/>
          <a:lstStyle/>
          <a:p>
            <a:pPr indent="0" marL="0">
              <a:buNone/>
            </a:pPr>
            <a:r>
              <a:rPr lang="en-US" sz="1200" dirty="0">
                <a:solidFill>
                  <a:schemeClr val="tx1"/>
                </a:solidFill>
              </a:rPr>
              <a:t>variance of the busyness factor W (about 7.6% CV)</a:t>
            </a:r>
            <a:endParaRPr lang="en-US" sz="1200" dirty="0"/>
          </a:p>
        </p:txBody>
      </p:sp>
      <p:sp>
        <p:nvSpPr>
          <p:cNvPr id="9" name="mixture note"/>
          <p:cNvSpPr txBox="1"/>
          <p:nvPr/>
        </p:nvSpPr>
        <p:spPr>
          <a:xfrm>
            <a:off x="6537960" y="3520440"/>
            <a:ext cx="2011680" cy="822960"/>
          </a:xfrm>
          <a:prstGeom prst="rect">
            <a:avLst/>
          </a:prstGeom>
          <a:noFill/>
          <a:ln/>
        </p:spPr>
        <p:txBody>
          <a:bodyPr wrap="square" lIns="0" tIns="0" rIns="0" bIns="0" rtlCol="0" anchor="t"/>
          <a:lstStyle/>
          <a:p>
            <a:pPr indent="0" marL="0">
              <a:buNone/>
            </a:pPr>
            <a:r>
              <a:rPr lang="en-US" sz="1100" dirty="0">
                <a:solidFill>
                  <a:schemeClr val="tx1"/>
                </a:solidFill>
              </a:rPr>
              <a:t>Small in practice: overload probabilities change by at most about 2 points.</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Predicting today's peak: Monday example</a:t>
            </a:r>
            <a:endParaRPr lang="en-US" sz="2800" dirty="0"/>
          </a:p>
        </p:txBody>
      </p:sp>
      <p:graphicFrame>
        <p:nvGraphicFramePr>
          <p:cNvPr id="3" name="peak chart" descr=""/>
          <p:cNvGraphicFramePr/>
          <p:nvPr/>
        </p:nvGraphicFramePr>
        <p:xfrm>
          <a:off x="365760" y="1051560"/>
          <a:ext cx="5669280" cy="3520440"/>
        </p:xfrm>
        <a:graphic xmlns:a="http://schemas.openxmlformats.org/drawingml/2006/main">
          <a:graphicData uri="http://schemas.openxmlformats.org/drawingml/2006/chart">
            <c:chart xmlns:c="http://schemas.openxmlformats.org/drawingml/2006/chart" r:id="rId1"/>
          </a:graphicData>
        </a:graphic>
      </p:graphicFrame>
      <p:sp>
        <p:nvSpPr>
          <p:cNvPr id="4" name="peak panel"/>
          <p:cNvSpPr/>
          <p:nvPr/>
        </p:nvSpPr>
        <p:spPr>
          <a:xfrm>
            <a:off x="6309360" y="1188720"/>
            <a:ext cx="2377440" cy="3337560"/>
          </a:xfrm>
          <a:prstGeom prst="roundRect">
            <a:avLst>
              <a:gd name="adj" fmla="val 3077"/>
            </a:avLst>
          </a:prstGeom>
          <a:solidFill>
            <a:schemeClr val="bg2"/>
          </a:solidFill>
          <a:ln/>
        </p:spPr>
      </p:sp>
      <p:sp>
        <p:nvSpPr>
          <p:cNvPr id="5" name="p peak value"/>
          <p:cNvSpPr txBox="1"/>
          <p:nvPr/>
        </p:nvSpPr>
        <p:spPr>
          <a:xfrm>
            <a:off x="6537960" y="1325880"/>
            <a:ext cx="201168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42%</a:t>
            </a:r>
            <a:endParaRPr lang="en-US" sz="3200" dirty="0"/>
          </a:p>
        </p:txBody>
      </p:sp>
      <p:sp>
        <p:nvSpPr>
          <p:cNvPr id="6" name="p peak label"/>
          <p:cNvSpPr txBox="1"/>
          <p:nvPr/>
        </p:nvSpPr>
        <p:spPr>
          <a:xfrm>
            <a:off x="6537960" y="1892808"/>
            <a:ext cx="2011680" cy="502920"/>
          </a:xfrm>
          <a:prstGeom prst="rect">
            <a:avLst/>
          </a:prstGeom>
          <a:noFill/>
          <a:ln/>
        </p:spPr>
        <p:txBody>
          <a:bodyPr wrap="square" lIns="0" tIns="0" rIns="0" bIns="0" rtlCol="0" anchor="t"/>
          <a:lstStyle/>
          <a:p>
            <a:pPr indent="0" marL="0">
              <a:buNone/>
            </a:pPr>
            <a:r>
              <a:rPr lang="en-US" sz="1200" dirty="0">
                <a:solidFill>
                  <a:schemeClr val="tx1"/>
                </a:solidFill>
              </a:rPr>
              <a:t>peak at 13:15–13:30 (most likely slot)</a:t>
            </a:r>
            <a:endParaRPr lang="en-US" sz="1200" dirty="0"/>
          </a:p>
        </p:txBody>
      </p:sp>
      <p:sp>
        <p:nvSpPr>
          <p:cNvPr id="7" name="p top two value"/>
          <p:cNvSpPr txBox="1"/>
          <p:nvPr/>
        </p:nvSpPr>
        <p:spPr>
          <a:xfrm>
            <a:off x="6537960" y="2377440"/>
            <a:ext cx="2011680" cy="54864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75%</a:t>
            </a:r>
            <a:endParaRPr lang="en-US" sz="3200" dirty="0"/>
          </a:p>
        </p:txBody>
      </p:sp>
      <p:sp>
        <p:nvSpPr>
          <p:cNvPr id="8" name="p top two label"/>
          <p:cNvSpPr txBox="1"/>
          <p:nvPr/>
        </p:nvSpPr>
        <p:spPr>
          <a:xfrm>
            <a:off x="6537960" y="2944368"/>
            <a:ext cx="2011680" cy="502920"/>
          </a:xfrm>
          <a:prstGeom prst="rect">
            <a:avLst/>
          </a:prstGeom>
          <a:noFill/>
          <a:ln/>
        </p:spPr>
        <p:txBody>
          <a:bodyPr wrap="square" lIns="0" tIns="0" rIns="0" bIns="0" rtlCol="0" anchor="t"/>
          <a:lstStyle/>
          <a:p>
            <a:pPr indent="0" marL="0">
              <a:buNone/>
            </a:pPr>
            <a:r>
              <a:rPr lang="en-US" sz="1200" dirty="0">
                <a:solidFill>
                  <a:schemeClr val="tx1"/>
                </a:solidFill>
              </a:rPr>
              <a:t>peak falls in 13:00–13:30</a:t>
            </a:r>
            <a:endParaRPr lang="en-US" sz="1200" dirty="0"/>
          </a:p>
        </p:txBody>
      </p:sp>
      <p:sp>
        <p:nvSpPr>
          <p:cNvPr id="9" name="p any value"/>
          <p:cNvSpPr txBox="1"/>
          <p:nvPr/>
        </p:nvSpPr>
        <p:spPr>
          <a:xfrm>
            <a:off x="6537960" y="3429000"/>
            <a:ext cx="2011680" cy="548640"/>
          </a:xfrm>
          <a:prstGeom prst="rect">
            <a:avLst/>
          </a:prstGeom>
          <a:noFill/>
          <a:ln/>
        </p:spPr>
        <p:txBody>
          <a:bodyPr wrap="square" lIns="0" tIns="0" rIns="0" bIns="0" rtlCol="0" anchor="t"/>
          <a:lstStyle/>
          <a:p>
            <a:pPr indent="0" marL="0">
              <a:buNone/>
            </a:pPr>
            <a:r>
              <a:rPr lang="en-US" sz="3200" b="1" dirty="0">
                <a:solidFill>
                  <a:schemeClr val="accent3"/>
                </a:solidFill>
                <a:latin typeface="Cambria" pitchFamily="34" charset="0"/>
                <a:ea typeface="Cambria" pitchFamily="34" charset="-122"/>
                <a:cs typeface="Cambria" pitchFamily="34" charset="-120"/>
              </a:rPr>
              <a:t>98%</a:t>
            </a:r>
            <a:endParaRPr lang="en-US" sz="3200" dirty="0"/>
          </a:p>
        </p:txBody>
      </p:sp>
      <p:sp>
        <p:nvSpPr>
          <p:cNvPr id="10" name="p any label"/>
          <p:cNvSpPr txBox="1"/>
          <p:nvPr/>
        </p:nvSpPr>
        <p:spPr>
          <a:xfrm>
            <a:off x="6537960" y="3995928"/>
            <a:ext cx="2011680" cy="502920"/>
          </a:xfrm>
          <a:prstGeom prst="rect">
            <a:avLst/>
          </a:prstGeom>
          <a:noFill/>
          <a:ln/>
        </p:spPr>
        <p:txBody>
          <a:bodyPr wrap="square" lIns="0" tIns="0" rIns="0" bIns="0" rtlCol="0" anchor="t"/>
          <a:lstStyle/>
          <a:p>
            <a:pPr indent="0" marL="0">
              <a:buNone/>
            </a:pPr>
            <a:r>
              <a:rPr lang="en-US" sz="1200" dirty="0">
                <a:solidFill>
                  <a:schemeClr val="tx1"/>
                </a:solidFill>
              </a:rPr>
              <a:t>chance at least one slot exceeds C</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Updating the forecast from the first counts</a:t>
            </a:r>
            <a:endParaRPr lang="en-US" sz="2800" dirty="0"/>
          </a:p>
        </p:txBody>
      </p:sp>
      <p:graphicFrame>
        <p:nvGraphicFramePr>
          <p:cNvPr id="3" name="update chart" descr=""/>
          <p:cNvGraphicFramePr/>
          <p:nvPr/>
        </p:nvGraphicFramePr>
        <p:xfrm>
          <a:off x="365760" y="1051560"/>
          <a:ext cx="5669280" cy="3520440"/>
        </p:xfrm>
        <a:graphic xmlns:a="http://schemas.openxmlformats.org/drawingml/2006/main">
          <a:graphicData uri="http://schemas.openxmlformats.org/drawingml/2006/chart">
            <c:chart xmlns:c="http://schemas.openxmlformats.org/drawingml/2006/chart" r:id="rId1"/>
          </a:graphicData>
        </a:graphic>
      </p:graphicFrame>
      <p:sp>
        <p:nvSpPr>
          <p:cNvPr id="4" name="update panel"/>
          <p:cNvSpPr/>
          <p:nvPr/>
        </p:nvSpPr>
        <p:spPr>
          <a:xfrm>
            <a:off x="6309360" y="1188720"/>
            <a:ext cx="2377440" cy="3337560"/>
          </a:xfrm>
          <a:prstGeom prst="roundRect">
            <a:avLst>
              <a:gd name="adj" fmla="val 3077"/>
            </a:avLst>
          </a:prstGeom>
          <a:solidFill>
            <a:schemeClr val="bg2"/>
          </a:solidFill>
          <a:ln/>
        </p:spPr>
      </p:sp>
      <p:sp>
        <p:nvSpPr>
          <p:cNvPr id="5" name="update text"/>
          <p:cNvSpPr txBox="1"/>
          <p:nvPr/>
        </p:nvSpPr>
        <p:spPr>
          <a:xfrm>
            <a:off x="6537960" y="1371600"/>
            <a:ext cx="2011680" cy="3063240"/>
          </a:xfrm>
          <a:prstGeom prst="rect">
            <a:avLst/>
          </a:prstGeom>
          <a:noFill/>
          <a:ln/>
        </p:spPr>
        <p:txBody>
          <a:bodyPr wrap="square" lIns="0" tIns="0" rIns="0" bIns="0" rtlCol="0" anchor="t"/>
          <a:lstStyle/>
          <a:p>
            <a:pPr indent="0" marL="0">
              <a:buNone/>
            </a:pPr>
            <a:r>
              <a:rPr lang="en-US" sz="1200" b="1" dirty="0">
                <a:solidFill>
                  <a:schemeClr val="accent1"/>
                </a:solidFill>
              </a:rPr>
              <a:t>Bayes' theorem</a:t>
            </a:r>
            <a:endParaRPr lang="en-US" sz="1200" dirty="0"/>
          </a:p>
          <a:p>
            <a:pPr indent="0" marL="0">
              <a:spcAft>
                <a:spcPts val="800"/>
              </a:spcAft>
              <a:buNone/>
            </a:pPr>
            <a:r>
              <a:rPr lang="en-US" sz="1200" dirty="0">
                <a:solidFill>
                  <a:schemeClr val="tx1"/>
                </a:solidFill>
              </a:rPr>
              <a:t>Prior W ~ Gamma(a, a). After the first two slots the posterior is Gamma(a + Σx, a + Σλ).</a:t>
            </a:r>
            <a:endParaRPr lang="en-US" sz="1200" dirty="0"/>
          </a:p>
          <a:p>
            <a:pPr indent="0" marL="0">
              <a:spcAft>
                <a:spcPts val="800"/>
              </a:spcAft>
              <a:buNone/>
            </a:pPr>
            <a:r>
              <a:rPr lang="en-US" sz="1200" dirty="0">
                <a:solidFill>
                  <a:schemeClr val="tx1"/>
                </a:solidFill>
              </a:rPr>
              <a:t>A busy morning (30 and 36 vs 26 and 31 forecast) lifts the 13:15 risk from 81% to 87%.</a:t>
            </a:r>
            <a:endParaRPr lang="en-US" sz="1200" dirty="0"/>
          </a:p>
          <a:p>
            <a:pPr indent="0" marL="0">
              <a:buNone/>
            </a:pPr>
            <a:r>
              <a:rPr lang="en-US" sz="1200" dirty="0">
                <a:solidFill>
                  <a:schemeClr val="tx1"/>
                </a:solidFill>
              </a:rPr>
              <a:t>On unseen days the update improved the Brier score of later slots: 0.124 → 0.119.</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Testing the forecasts on 60 unseen days</a:t>
            </a:r>
            <a:endParaRPr lang="en-US" sz="2800" dirty="0"/>
          </a:p>
        </p:txBody>
      </p:sp>
      <p:sp>
        <p:nvSpPr>
          <p:cNvPr id="3" name="validation card 1"/>
          <p:cNvSpPr/>
          <p:nvPr/>
        </p:nvSpPr>
        <p:spPr>
          <a:xfrm>
            <a:off x="457200" y="1188720"/>
            <a:ext cx="1920240" cy="1874520"/>
          </a:xfrm>
          <a:prstGeom prst="roundRect">
            <a:avLst>
              <a:gd name="adj" fmla="val 3902"/>
            </a:avLst>
          </a:prstGeom>
          <a:solidFill>
            <a:schemeClr val="bg2"/>
          </a:solidFill>
          <a:ln/>
        </p:spPr>
      </p:sp>
      <p:sp>
        <p:nvSpPr>
          <p:cNvPr id="4" name="validation value 1"/>
          <p:cNvSpPr txBox="1"/>
          <p:nvPr/>
        </p:nvSpPr>
        <p:spPr>
          <a:xfrm>
            <a:off x="640080" y="1325880"/>
            <a:ext cx="1645920" cy="548640"/>
          </a:xfrm>
          <a:prstGeom prst="rect">
            <a:avLst/>
          </a:prstGeom>
          <a:noFill/>
          <a:ln/>
        </p:spPr>
        <p:txBody>
          <a:bodyPr wrap="square" lIns="0" tIns="0" rIns="0" bIns="0" rtlCol="0" anchor="t"/>
          <a:lstStyle/>
          <a:p>
            <a:pPr indent="0" marL="0">
              <a:buNone/>
            </a:pPr>
            <a:r>
              <a:rPr lang="en-US" sz="2400" b="1" dirty="0">
                <a:solidFill>
                  <a:schemeClr val="accent5"/>
                </a:solidFill>
                <a:latin typeface="Cambria" pitchFamily="34" charset="0"/>
                <a:ea typeface="Cambria" pitchFamily="34" charset="-122"/>
                <a:cs typeface="Cambria" pitchFamily="34" charset="-120"/>
              </a:rPr>
              <a:t>93.7%</a:t>
            </a:r>
            <a:endParaRPr lang="en-US" sz="2400" dirty="0"/>
          </a:p>
        </p:txBody>
      </p:sp>
      <p:sp>
        <p:nvSpPr>
          <p:cNvPr id="5" name="validation label 1"/>
          <p:cNvSpPr txBox="1"/>
          <p:nvPr/>
        </p:nvSpPr>
        <p:spPr>
          <a:xfrm>
            <a:off x="640080" y="1920240"/>
            <a:ext cx="1600200" cy="914400"/>
          </a:xfrm>
          <a:prstGeom prst="rect">
            <a:avLst/>
          </a:prstGeom>
          <a:noFill/>
          <a:ln/>
        </p:spPr>
        <p:txBody>
          <a:bodyPr wrap="square" lIns="0" tIns="0" rIns="0" bIns="0" rtlCol="0" anchor="t"/>
          <a:lstStyle/>
          <a:p>
            <a:pPr indent="0" marL="0">
              <a:buNone/>
            </a:pPr>
            <a:r>
              <a:rPr lang="en-US" sz="1100" dirty="0">
                <a:solidFill>
                  <a:schemeClr val="tx1"/>
                </a:solidFill>
              </a:rPr>
              <a:t>95% intervals covered the actual count (z-test p = 0.20: consistent with 95%)</a:t>
            </a:r>
            <a:endParaRPr lang="en-US" sz="1100" dirty="0"/>
          </a:p>
        </p:txBody>
      </p:sp>
      <p:sp>
        <p:nvSpPr>
          <p:cNvPr id="6" name="validation verdict 1"/>
          <p:cNvSpPr txBox="1"/>
          <p:nvPr/>
        </p:nvSpPr>
        <p:spPr>
          <a:xfrm>
            <a:off x="640080" y="2697480"/>
            <a:ext cx="1645920" cy="274320"/>
          </a:xfrm>
          <a:prstGeom prst="rect">
            <a:avLst/>
          </a:prstGeom>
          <a:noFill/>
          <a:ln/>
        </p:spPr>
        <p:txBody>
          <a:bodyPr wrap="square" lIns="0" tIns="0" rIns="0" bIns="0" rtlCol="0" anchor="t"/>
          <a:lstStyle/>
          <a:p>
            <a:pPr indent="0" marL="0">
              <a:buNone/>
            </a:pPr>
            <a:r>
              <a:rPr lang="en-US" sz="1000" b="1" dirty="0">
                <a:solidFill>
                  <a:schemeClr val="accent5"/>
                </a:solidFill>
              </a:rPr>
              <a:t>Supports model: Yes</a:t>
            </a:r>
            <a:endParaRPr lang="en-US" sz="1000" dirty="0"/>
          </a:p>
        </p:txBody>
      </p:sp>
      <p:sp>
        <p:nvSpPr>
          <p:cNvPr id="7" name="validation card 2"/>
          <p:cNvSpPr/>
          <p:nvPr/>
        </p:nvSpPr>
        <p:spPr>
          <a:xfrm>
            <a:off x="2560320" y="1188720"/>
            <a:ext cx="1920240" cy="1874520"/>
          </a:xfrm>
          <a:prstGeom prst="roundRect">
            <a:avLst>
              <a:gd name="adj" fmla="val 3902"/>
            </a:avLst>
          </a:prstGeom>
          <a:solidFill>
            <a:schemeClr val="bg2"/>
          </a:solidFill>
          <a:ln/>
        </p:spPr>
      </p:sp>
      <p:sp>
        <p:nvSpPr>
          <p:cNvPr id="8" name="validation value 2"/>
          <p:cNvSpPr txBox="1"/>
          <p:nvPr/>
        </p:nvSpPr>
        <p:spPr>
          <a:xfrm>
            <a:off x="2743200" y="1325880"/>
            <a:ext cx="1645920" cy="548640"/>
          </a:xfrm>
          <a:prstGeom prst="rect">
            <a:avLst/>
          </a:prstGeom>
          <a:noFill/>
          <a:ln/>
        </p:spPr>
        <p:txBody>
          <a:bodyPr wrap="square" lIns="0" tIns="0" rIns="0" bIns="0" rtlCol="0" anchor="t"/>
          <a:lstStyle/>
          <a:p>
            <a:pPr indent="0" marL="0">
              <a:buNone/>
            </a:pPr>
            <a:r>
              <a:rPr lang="en-US" sz="2400" b="1" dirty="0">
                <a:solidFill>
                  <a:schemeClr val="accent5"/>
                </a:solidFill>
                <a:latin typeface="Cambria" pitchFamily="34" charset="0"/>
                <a:ea typeface="Cambria" pitchFamily="34" charset="-122"/>
                <a:cs typeface="Cambria" pitchFamily="34" charset="-120"/>
              </a:rPr>
              <a:t>40%</a:t>
            </a:r>
            <a:endParaRPr lang="en-US" sz="2400" dirty="0"/>
          </a:p>
        </p:txBody>
      </p:sp>
      <p:sp>
        <p:nvSpPr>
          <p:cNvPr id="9" name="validation label 2"/>
          <p:cNvSpPr txBox="1"/>
          <p:nvPr/>
        </p:nvSpPr>
        <p:spPr>
          <a:xfrm>
            <a:off x="2743200" y="1920240"/>
            <a:ext cx="1600200" cy="914400"/>
          </a:xfrm>
          <a:prstGeom prst="rect">
            <a:avLst/>
          </a:prstGeom>
          <a:noFill/>
          <a:ln/>
        </p:spPr>
        <p:txBody>
          <a:bodyPr wrap="square" lIns="0" tIns="0" rIns="0" bIns="0" rtlCol="0" anchor="t"/>
          <a:lstStyle/>
          <a:p>
            <a:pPr indent="0" marL="0">
              <a:buNone/>
            </a:pPr>
            <a:r>
              <a:rPr lang="en-US" sz="1100" dirty="0">
                <a:solidFill>
                  <a:schemeClr val="tx1"/>
                </a:solidFill>
              </a:rPr>
              <a:t>busiest slot named correctly, vs 13% by chance (p &lt; 0.001)</a:t>
            </a:r>
            <a:endParaRPr lang="en-US" sz="1100" dirty="0"/>
          </a:p>
        </p:txBody>
      </p:sp>
      <p:sp>
        <p:nvSpPr>
          <p:cNvPr id="10" name="validation verdict 2"/>
          <p:cNvSpPr txBox="1"/>
          <p:nvPr/>
        </p:nvSpPr>
        <p:spPr>
          <a:xfrm>
            <a:off x="2743200" y="2697480"/>
            <a:ext cx="1645920" cy="274320"/>
          </a:xfrm>
          <a:prstGeom prst="rect">
            <a:avLst/>
          </a:prstGeom>
          <a:noFill/>
          <a:ln/>
        </p:spPr>
        <p:txBody>
          <a:bodyPr wrap="square" lIns="0" tIns="0" rIns="0" bIns="0" rtlCol="0" anchor="t"/>
          <a:lstStyle/>
          <a:p>
            <a:pPr indent="0" marL="0">
              <a:buNone/>
            </a:pPr>
            <a:r>
              <a:rPr lang="en-US" sz="1000" b="1" dirty="0">
                <a:solidFill>
                  <a:schemeClr val="accent5"/>
                </a:solidFill>
              </a:rPr>
              <a:t>Supports model: Yes</a:t>
            </a:r>
            <a:endParaRPr lang="en-US" sz="1000" dirty="0"/>
          </a:p>
        </p:txBody>
      </p:sp>
      <p:sp>
        <p:nvSpPr>
          <p:cNvPr id="11" name="validation card 3"/>
          <p:cNvSpPr/>
          <p:nvPr/>
        </p:nvSpPr>
        <p:spPr>
          <a:xfrm>
            <a:off x="4663440" y="1188720"/>
            <a:ext cx="1920240" cy="1874520"/>
          </a:xfrm>
          <a:prstGeom prst="roundRect">
            <a:avLst>
              <a:gd name="adj" fmla="val 3902"/>
            </a:avLst>
          </a:prstGeom>
          <a:solidFill>
            <a:schemeClr val="bg2"/>
          </a:solidFill>
          <a:ln/>
        </p:spPr>
      </p:sp>
      <p:sp>
        <p:nvSpPr>
          <p:cNvPr id="12" name="validation value 3"/>
          <p:cNvSpPr txBox="1"/>
          <p:nvPr/>
        </p:nvSpPr>
        <p:spPr>
          <a:xfrm>
            <a:off x="4846320" y="1325880"/>
            <a:ext cx="1645920" cy="548640"/>
          </a:xfrm>
          <a:prstGeom prst="rect">
            <a:avLst/>
          </a:prstGeom>
          <a:noFill/>
          <a:ln/>
        </p:spPr>
        <p:txBody>
          <a:bodyPr wrap="square" lIns="0" tIns="0" rIns="0" bIns="0" rtlCol="0" anchor="t"/>
          <a:lstStyle/>
          <a:p>
            <a:pPr indent="0" marL="0">
              <a:buNone/>
            </a:pPr>
            <a:r>
              <a:rPr lang="en-US" sz="2400" b="1" dirty="0">
                <a:solidFill>
                  <a:schemeClr val="accent4"/>
                </a:solidFill>
                <a:latin typeface="Cambria" pitchFamily="34" charset="0"/>
                <a:ea typeface="Cambria" pitchFamily="34" charset="-122"/>
                <a:cs typeface="Cambria" pitchFamily="34" charset="-120"/>
              </a:rPr>
              <a:t>4.57 vs 4.62</a:t>
            </a:r>
            <a:endParaRPr lang="en-US" sz="2400" dirty="0"/>
          </a:p>
        </p:txBody>
      </p:sp>
      <p:sp>
        <p:nvSpPr>
          <p:cNvPr id="13" name="validation label 3"/>
          <p:cNvSpPr txBox="1"/>
          <p:nvPr/>
        </p:nvSpPr>
        <p:spPr>
          <a:xfrm>
            <a:off x="4846320" y="1920240"/>
            <a:ext cx="1600200" cy="914400"/>
          </a:xfrm>
          <a:prstGeom prst="rect">
            <a:avLst/>
          </a:prstGeom>
          <a:noFill/>
          <a:ln/>
        </p:spPr>
        <p:txBody>
          <a:bodyPr wrap="square" lIns="0" tIns="0" rIns="0" bIns="0" rtlCol="0" anchor="t"/>
          <a:lstStyle/>
          <a:p>
            <a:pPr indent="0" marL="0">
              <a:buNone/>
            </a:pPr>
            <a:r>
              <a:rPr lang="en-US" sz="1100" dirty="0">
                <a:solidFill>
                  <a:schemeClr val="tx1"/>
                </a:solidFill>
              </a:rPr>
              <a:t>mean absolute error, model vs per-slot average (paired t p = 0.29)</a:t>
            </a:r>
            <a:endParaRPr lang="en-US" sz="1100" dirty="0"/>
          </a:p>
        </p:txBody>
      </p:sp>
      <p:sp>
        <p:nvSpPr>
          <p:cNvPr id="14" name="validation verdict 3"/>
          <p:cNvSpPr txBox="1"/>
          <p:nvPr/>
        </p:nvSpPr>
        <p:spPr>
          <a:xfrm>
            <a:off x="4846320" y="2697480"/>
            <a:ext cx="1645920" cy="274320"/>
          </a:xfrm>
          <a:prstGeom prst="rect">
            <a:avLst/>
          </a:prstGeom>
          <a:noFill/>
          <a:ln/>
        </p:spPr>
        <p:txBody>
          <a:bodyPr wrap="square" lIns="0" tIns="0" rIns="0" bIns="0" rtlCol="0" anchor="t"/>
          <a:lstStyle/>
          <a:p>
            <a:pPr indent="0" marL="0">
              <a:buNone/>
            </a:pPr>
            <a:r>
              <a:rPr lang="en-US" sz="1000" b="1" dirty="0">
                <a:solidFill>
                  <a:schemeClr val="accent4"/>
                </a:solidFill>
              </a:rPr>
              <a:t>Supports model: Not significant</a:t>
            </a:r>
            <a:endParaRPr lang="en-US" sz="1000" dirty="0"/>
          </a:p>
        </p:txBody>
      </p:sp>
      <p:sp>
        <p:nvSpPr>
          <p:cNvPr id="15" name="validation card 4"/>
          <p:cNvSpPr/>
          <p:nvPr/>
        </p:nvSpPr>
        <p:spPr>
          <a:xfrm>
            <a:off x="6766560" y="1188720"/>
            <a:ext cx="1920240" cy="1874520"/>
          </a:xfrm>
          <a:prstGeom prst="roundRect">
            <a:avLst>
              <a:gd name="adj" fmla="val 3902"/>
            </a:avLst>
          </a:prstGeom>
          <a:solidFill>
            <a:schemeClr val="bg2"/>
          </a:solidFill>
          <a:ln/>
        </p:spPr>
      </p:sp>
      <p:sp>
        <p:nvSpPr>
          <p:cNvPr id="16" name="validation value 4"/>
          <p:cNvSpPr txBox="1"/>
          <p:nvPr/>
        </p:nvSpPr>
        <p:spPr>
          <a:xfrm>
            <a:off x="6949440" y="1325880"/>
            <a:ext cx="1645920" cy="548640"/>
          </a:xfrm>
          <a:prstGeom prst="rect">
            <a:avLst/>
          </a:prstGeom>
          <a:noFill/>
          <a:ln/>
        </p:spPr>
        <p:txBody>
          <a:bodyPr wrap="square" lIns="0" tIns="0" rIns="0" bIns="0" rtlCol="0" anchor="t"/>
          <a:lstStyle/>
          <a:p>
            <a:pPr indent="0" marL="0">
              <a:buNone/>
            </a:pPr>
            <a:r>
              <a:rPr lang="en-US" sz="2400" b="1" dirty="0">
                <a:solidFill>
                  <a:schemeClr val="accent5"/>
                </a:solidFill>
                <a:latin typeface="Cambria" pitchFamily="34" charset="0"/>
                <a:ea typeface="Cambria" pitchFamily="34" charset="-122"/>
                <a:cs typeface="Cambria" pitchFamily="34" charset="-120"/>
              </a:rPr>
              <a:t>r = 0.73</a:t>
            </a:r>
            <a:endParaRPr lang="en-US" sz="2400" dirty="0"/>
          </a:p>
        </p:txBody>
      </p:sp>
      <p:sp>
        <p:nvSpPr>
          <p:cNvPr id="17" name="validation label 4"/>
          <p:cNvSpPr txBox="1"/>
          <p:nvPr/>
        </p:nvSpPr>
        <p:spPr>
          <a:xfrm>
            <a:off x="6949440" y="1920240"/>
            <a:ext cx="1600200" cy="914400"/>
          </a:xfrm>
          <a:prstGeom prst="rect">
            <a:avLst/>
          </a:prstGeom>
          <a:noFill/>
          <a:ln/>
        </p:spPr>
        <p:txBody>
          <a:bodyPr wrap="square" lIns="0" tIns="0" rIns="0" bIns="0" rtlCol="0" anchor="t"/>
          <a:lstStyle/>
          <a:p>
            <a:pPr indent="0" marL="0">
              <a:buNone/>
            </a:pPr>
            <a:r>
              <a:rPr lang="en-US" sz="1100" dirty="0">
                <a:solidFill>
                  <a:schemeClr val="tx1"/>
                </a:solidFill>
              </a:rPr>
              <a:t>correlation between predicted and actual counts (p &lt; 0.001)</a:t>
            </a:r>
            <a:endParaRPr lang="en-US" sz="1100" dirty="0"/>
          </a:p>
        </p:txBody>
      </p:sp>
      <p:sp>
        <p:nvSpPr>
          <p:cNvPr id="18" name="validation verdict 4"/>
          <p:cNvSpPr txBox="1"/>
          <p:nvPr/>
        </p:nvSpPr>
        <p:spPr>
          <a:xfrm>
            <a:off x="6949440" y="2697480"/>
            <a:ext cx="1645920" cy="274320"/>
          </a:xfrm>
          <a:prstGeom prst="rect">
            <a:avLst/>
          </a:prstGeom>
          <a:noFill/>
          <a:ln/>
        </p:spPr>
        <p:txBody>
          <a:bodyPr wrap="square" lIns="0" tIns="0" rIns="0" bIns="0" rtlCol="0" anchor="t"/>
          <a:lstStyle/>
          <a:p>
            <a:pPr indent="0" marL="0">
              <a:buNone/>
            </a:pPr>
            <a:r>
              <a:rPr lang="en-US" sz="1000" b="1" dirty="0">
                <a:solidFill>
                  <a:schemeClr val="accent5"/>
                </a:solidFill>
              </a:rPr>
              <a:t>Supports model: Yes</a:t>
            </a:r>
            <a:endParaRPr lang="en-US" sz="1000" dirty="0"/>
          </a:p>
        </p:txBody>
      </p:sp>
      <p:sp>
        <p:nvSpPr>
          <p:cNvPr id="19" name="validation text"/>
          <p:cNvSpPr txBox="1"/>
          <p:nvPr/>
        </p:nvSpPr>
        <p:spPr>
          <a:xfrm>
            <a:off x="457200" y="3337560"/>
            <a:ext cx="8229600" cy="1097280"/>
          </a:xfrm>
          <a:prstGeom prst="rect">
            <a:avLst/>
          </a:prstGeom>
          <a:noFill/>
          <a:ln/>
        </p:spPr>
        <p:txBody>
          <a:bodyPr wrap="square" lIns="0" tIns="0" rIns="0" bIns="0" rtlCol="0" anchor="t"/>
          <a:lstStyle/>
          <a:p>
            <a:pPr indent="0" marL="0">
              <a:buNone/>
            </a:pPr>
            <a:r>
              <a:rPr lang="en-US" sz="1400" b="1" dirty="0">
                <a:solidFill>
                  <a:schemeClr val="tx1"/>
                </a:solidFill>
              </a:rPr>
              <a:t>Honest reading. </a:t>
            </a:r>
            <a:pPr indent="0" marL="0">
              <a:buNone/>
            </a:pPr>
            <a:r>
              <a:rPr lang="en-US" sz="1400" dirty="0">
                <a:solidFill>
                  <a:schemeClr val="tx1"/>
                </a:solidFill>
              </a:rPr>
              <a:t>Every day is forecast only from earlier days (477 slot forecasts). Intervals and peak-slot prediction work; the gain in point accuracy over a simple average is small and not significant, which is expected when day effects are mild. Exam days benefit most (MAE 4.53 vs 4.78).</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Comparison with existing studies</a:t>
            </a:r>
            <a:endParaRPr lang="en-US" sz="2800" dirty="0"/>
          </a:p>
        </p:txBody>
      </p:sp>
      <p:graphicFrame>
        <p:nvGraphicFramePr>
          <p:cNvPr id="18" name="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691640"/>
                <a:gridCol w="2514600"/>
                <a:gridCol w="1051560"/>
                <a:gridCol w="1005840"/>
                <a:gridCol w="914400"/>
                <a:gridCol w="1051560"/>
              </a:tblGrid>
              <a:tr h="41148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Study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Slot overload P</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Tests Poisson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Peak time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Unseen days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r>
              <a:tr h="411480">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Tang et al. (2019)</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Pedestrian flow in a canteen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r>
              <a:tr h="411480">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Jiao et al. (2022)</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M/M/C simulation, one rate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Kim &amp; Whitt (2014)</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Tests of Poisson arrivals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b="1" dirty="0">
                          <a:solidFill>
                            <a:srgbClr val="2E8B57"/>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r>
              <a:tr h="411480">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Weinberg et al. (2007)</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Bayesian rate forecasts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Partly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00" b="1" dirty="0">
                          <a:solidFill>
                            <a:srgbClr val="2E8B57"/>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Shah et al. (2025)</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ML daily dining totals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dirty="0">
                          <a:solidFill>
                            <a:srgbClr val="C039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c>
                  <a:txBody>
                    <a:bodyPr/>
                    <a:lstStyle/>
                    <a:p>
                      <a:pPr algn="l" indent="0" marL="0">
                        <a:buNone/>
                      </a:pPr>
                      <a:r>
                        <a:rPr lang="en-US" sz="1200" b="1" dirty="0">
                          <a:solidFill>
                            <a:srgbClr val="2E8B57"/>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6"/>
                    </a:solidFill>
                  </a:tcPr>
                </a:tc>
              </a:tr>
              <a:tr h="411480">
                <a:tc>
                  <a:txBody>
                    <a:bodyPr/>
                    <a:lstStyle/>
                    <a:p>
                      <a:pPr algn="l" indent="0" marL="0">
                        <a:buNone/>
                      </a:pPr>
                      <a:r>
                        <a:rPr lang="en-US" sz="1200" b="1" dirty="0">
                          <a:solidFill>
                            <a:srgbClr val="1B2A4A"/>
                          </a:solidFill>
                          <a:latin typeface="Calibri" pitchFamily="34" charset="0"/>
                          <a:ea typeface="Calibri" pitchFamily="34" charset="-122"/>
                          <a:cs typeface="Calibri" pitchFamily="34" charset="-120"/>
                        </a:rPr>
                        <a:t>This project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D9EFEF"/>
                    </a:solidFill>
                  </a:tcPr>
                </a:tc>
                <a:tc>
                  <a:txBody>
                    <a:bodyPr/>
                    <a:lstStyle/>
                    <a:p>
                      <a:pPr algn="l" indent="0" marL="0">
                        <a:buNone/>
                      </a:pPr>
                      <a:r>
                        <a:rPr lang="en-US" sz="1200" b="1" dirty="0">
                          <a:solidFill>
                            <a:srgbClr val="1B2A4A"/>
                          </a:solidFill>
                          <a:latin typeface="Calibri" pitchFamily="34" charset="0"/>
                          <a:ea typeface="Calibri" pitchFamily="34" charset="-122"/>
                          <a:cs typeface="Calibri" pitchFamily="34" charset="-120"/>
                        </a:rPr>
                        <a:t>Per-slot Poisson + regression + Bayes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D9EFEF"/>
                    </a:solidFill>
                  </a:tcPr>
                </a:tc>
                <a:tc>
                  <a:txBody>
                    <a:bodyPr/>
                    <a:lstStyle/>
                    <a:p>
                      <a:pPr algn="l" indent="0" marL="0">
                        <a:buNone/>
                      </a:pPr>
                      <a:r>
                        <a:rPr lang="en-US" sz="1200" b="1" dirty="0">
                          <a:solidFill>
                            <a:srgbClr val="2E8B57"/>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D9EFEF"/>
                    </a:solidFill>
                  </a:tcPr>
                </a:tc>
                <a:tc>
                  <a:txBody>
                    <a:bodyPr/>
                    <a:lstStyle/>
                    <a:p>
                      <a:pPr algn="l" indent="0" marL="0">
                        <a:buNone/>
                      </a:pPr>
                      <a:r>
                        <a:rPr lang="en-US" sz="1200" b="1" dirty="0">
                          <a:solidFill>
                            <a:srgbClr val="2E8B57"/>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D9EFEF"/>
                    </a:solidFill>
                  </a:tcPr>
                </a:tc>
                <a:tc>
                  <a:txBody>
                    <a:bodyPr/>
                    <a:lstStyle/>
                    <a:p>
                      <a:pPr algn="l" indent="0" marL="0">
                        <a:buNone/>
                      </a:pPr>
                      <a:r>
                        <a:rPr lang="en-US" sz="1200" b="1" dirty="0">
                          <a:solidFill>
                            <a:srgbClr val="2E8B57"/>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D9EFEF"/>
                    </a:solidFill>
                  </a:tcPr>
                </a:tc>
                <a:tc>
                  <a:txBody>
                    <a:bodyPr/>
                    <a:lstStyle/>
                    <a:p>
                      <a:pPr algn="l" indent="0" marL="0">
                        <a:buNone/>
                      </a:pPr>
                      <a:r>
                        <a:rPr lang="en-US" sz="1200" b="1" dirty="0">
                          <a:solidFill>
                            <a:srgbClr val="2E8B57"/>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D9EFEF"/>
                    </a:solidFill>
                  </a:tcPr>
                </a:tc>
              </a:tr>
            </a:tbl>
          </a:graphicData>
        </a:graphic>
      </p:graphicFrame>
      <p:sp>
        <p:nvSpPr>
          <p:cNvPr id="4" name="comparison note"/>
          <p:cNvSpPr txBox="1"/>
          <p:nvPr/>
        </p:nvSpPr>
        <p:spPr>
          <a:xfrm>
            <a:off x="457200" y="4224528"/>
            <a:ext cx="8229600" cy="411480"/>
          </a:xfrm>
          <a:prstGeom prst="rect">
            <a:avLst/>
          </a:prstGeom>
          <a:noFill/>
          <a:ln/>
        </p:spPr>
        <p:txBody>
          <a:bodyPr wrap="square" lIns="0" tIns="0" rIns="0" bIns="0" rtlCol="0" anchor="t"/>
          <a:lstStyle/>
          <a:p>
            <a:pPr indent="0" marL="0">
              <a:buNone/>
            </a:pPr>
            <a:r>
              <a:rPr lang="en-US" sz="1200" dirty="0">
                <a:solidFill>
                  <a:schemeClr val="tx1"/>
                </a:solidFill>
              </a:rPr>
              <a:t>Within the project: the regression + Poisson–Gamma forecast versus the per-slot average gives better-calibrated intervals and a big gain in peak-slot hits, but similar point error.</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CanteenFlow: the interactive dashboard</a:t>
            </a:r>
            <a:endParaRPr lang="en-US" sz="2800" dirty="0"/>
          </a:p>
        </p:txBody>
      </p:sp>
      <p:pic>
        <p:nvPicPr>
          <p:cNvPr id="3" name="dashboard plan screenshot" descr="Dashboard page: When should I go to the canteen?">    </p:cNvPr>
          <p:cNvPicPr>
            <a:picLocks noChangeAspect="1"/>
          </p:cNvPicPr>
          <p:nvPr/>
        </p:nvPicPr>
        <p:blipFill>
          <a:blip r:embed="rId1"/>
          <a:stretch>
            <a:fillRect/>
          </a:stretch>
        </p:blipFill>
        <p:spPr>
          <a:xfrm>
            <a:off x="457200" y="1143000"/>
            <a:ext cx="4023360" cy="2404872"/>
          </a:xfrm>
          <a:prstGeom prst="rect">
            <a:avLst/>
          </a:prstGeom>
        </p:spPr>
      </p:pic>
      <p:pic>
        <p:nvPicPr>
          <p:cNvPr id="4" name="dashboard forecast screenshot" descr="Dashboard page: Can we predict the peak time?">    </p:cNvPr>
          <p:cNvPicPr>
            <a:picLocks noChangeAspect="1"/>
          </p:cNvPicPr>
          <p:nvPr/>
        </p:nvPicPr>
        <p:blipFill>
          <a:blip r:embed="rId2"/>
          <a:stretch>
            <a:fillRect/>
          </a:stretch>
        </p:blipFill>
        <p:spPr>
          <a:xfrm>
            <a:off x="4663440" y="1143000"/>
            <a:ext cx="4023360" cy="2404872"/>
          </a:xfrm>
          <a:prstGeom prst="rect">
            <a:avLst/>
          </a:prstGeom>
        </p:spPr>
      </p:pic>
      <p:sp>
        <p:nvSpPr>
          <p:cNvPr id="5" name="plan caption"/>
          <p:cNvSpPr txBox="1"/>
          <p:nvPr/>
        </p:nvSpPr>
        <p:spPr>
          <a:xfrm>
            <a:off x="457200" y="3639312"/>
            <a:ext cx="4023360" cy="365760"/>
          </a:xfrm>
          <a:prstGeom prst="rect">
            <a:avLst/>
          </a:prstGeom>
          <a:noFill/>
          <a:ln/>
        </p:spPr>
        <p:txBody>
          <a:bodyPr wrap="square" lIns="0" tIns="0" rIns="0" bIns="0" rtlCol="0" anchor="t"/>
          <a:lstStyle/>
          <a:p>
            <a:pPr indent="0" marL="0">
              <a:buNone/>
            </a:pPr>
            <a:r>
              <a:rPr lang="en-US" sz="1200" dirty="0">
                <a:solidFill>
                  <a:schemeClr val="tx1"/>
                </a:solidFill>
              </a:rPr>
              <a:t>When to go: plain-language advice for any weekday or exam week</a:t>
            </a:r>
            <a:endParaRPr lang="en-US" sz="1200" dirty="0"/>
          </a:p>
        </p:txBody>
      </p:sp>
      <p:sp>
        <p:nvSpPr>
          <p:cNvPr id="6" name="forecast caption"/>
          <p:cNvSpPr txBox="1"/>
          <p:nvPr/>
        </p:nvSpPr>
        <p:spPr>
          <a:xfrm>
            <a:off x="4663440" y="3639312"/>
            <a:ext cx="4023360" cy="365760"/>
          </a:xfrm>
          <a:prstGeom prst="rect">
            <a:avLst/>
          </a:prstGeom>
          <a:noFill/>
          <a:ln/>
        </p:spPr>
        <p:txBody>
          <a:bodyPr wrap="square" lIns="0" tIns="0" rIns="0" bIns="0" rtlCol="0" anchor="t"/>
          <a:lstStyle/>
          <a:p>
            <a:pPr indent="0" marL="0">
              <a:buNone/>
            </a:pPr>
            <a:r>
              <a:rPr lang="en-US" sz="1200" dirty="0">
                <a:solidFill>
                  <a:schemeClr val="tx1"/>
                </a:solidFill>
              </a:rPr>
              <a:t>Peak forecast: P(peak), same-day update, 3D views</a:t>
            </a:r>
            <a:endParaRPr lang="en-US" sz="1200" dirty="0"/>
          </a:p>
        </p:txBody>
      </p:sp>
      <p:sp>
        <p:nvSpPr>
          <p:cNvPr id="7" name="stack"/>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300" b="1" dirty="0">
                <a:solidFill>
                  <a:schemeClr val="accent1"/>
                </a:solidFill>
              </a:rPr>
              <a:t>Python · Streamlit · Plotly 3D · SciPy · 83 automated tests. Upload real counts and every result updates.</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Conclusion and future work</a:t>
            </a:r>
            <a:endParaRPr lang="en-US" sz="2800" dirty="0"/>
          </a:p>
        </p:txBody>
      </p:sp>
      <p:sp>
        <p:nvSpPr>
          <p:cNvPr id="3" name="conclusion card"/>
          <p:cNvSpPr/>
          <p:nvPr/>
        </p:nvSpPr>
        <p:spPr>
          <a:xfrm>
            <a:off x="457200" y="1188720"/>
            <a:ext cx="4754880" cy="3337560"/>
          </a:xfrm>
          <a:prstGeom prst="roundRect">
            <a:avLst>
              <a:gd name="adj" fmla="val 2192"/>
            </a:avLst>
          </a:prstGeom>
          <a:solidFill>
            <a:schemeClr val="bg2"/>
          </a:solidFill>
          <a:ln/>
        </p:spPr>
      </p:sp>
      <p:sp>
        <p:nvSpPr>
          <p:cNvPr id="4" name="findings"/>
          <p:cNvSpPr txBox="1"/>
          <p:nvPr/>
        </p:nvSpPr>
        <p:spPr>
          <a:xfrm>
            <a:off x="685800" y="1371600"/>
            <a:ext cx="4343400" cy="3063240"/>
          </a:xfrm>
          <a:prstGeom prst="rect">
            <a:avLst/>
          </a:prstGeom>
          <a:noFill/>
          <a:ln/>
        </p:spPr>
        <p:txBody>
          <a:bodyPr wrap="square" lIns="0" tIns="0" rIns="0" bIns="0" rtlCol="0" anchor="t"/>
          <a:lstStyle/>
          <a:p>
            <a:pPr indent="0" marL="0">
              <a:spcAft>
                <a:spcPts val="800"/>
              </a:spcAft>
              <a:buNone/>
            </a:pPr>
            <a:r>
              <a:rPr lang="en-US" sz="1400" b="1" dirty="0">
                <a:solidFill>
                  <a:schemeClr val="accent1"/>
                </a:solidFill>
              </a:rPr>
              <a:t>What we found</a:t>
            </a:r>
            <a:endParaRPr lang="en-US" sz="1400" dirty="0"/>
          </a:p>
          <a:p>
            <a:pPr marL="342900" indent="-342900">
              <a:spcAft>
                <a:spcPts val="800"/>
              </a:spcAft>
              <a:buSzPct val="100000"/>
              <a:buChar char="•"/>
            </a:pPr>
            <a:r>
              <a:rPr lang="en-US" sz="1400" dirty="0">
                <a:solidFill>
                  <a:schemeClr val="tx1"/>
                </a:solidFill>
              </a:rPr>
              <a:t>The Poisson model fits each slot; it was tested, not assumed.</a:t>
            </a:r>
            <a:endParaRPr lang="en-US" sz="1400" dirty="0"/>
          </a:p>
          <a:p>
            <a:pPr marL="342900" indent="-342900">
              <a:spcAft>
                <a:spcPts val="800"/>
              </a:spcAft>
              <a:buSzPct val="100000"/>
              <a:buChar char="•"/>
            </a:pPr>
            <a:r>
              <a:rPr lang="en-US" sz="1400" dirty="0">
                <a:solidFill>
                  <a:schemeClr val="tx1"/>
                </a:solidFill>
              </a:rPr>
              <a:t>Highest risk at 13:15–13:30 (74%); 13:00–13:30 is the danger window.</a:t>
            </a:r>
            <a:endParaRPr lang="en-US" sz="1400" dirty="0"/>
          </a:p>
          <a:p>
            <a:pPr marL="342900" indent="-342900">
              <a:spcAft>
                <a:spcPts val="800"/>
              </a:spcAft>
              <a:buSzPct val="100000"/>
              <a:buChar char="•"/>
            </a:pPr>
            <a:r>
              <a:rPr lang="en-US" sz="1400" dirty="0">
                <a:solidFill>
                  <a:schemeClr val="tx1"/>
                </a:solidFill>
              </a:rPr>
              <a:t>14:15–14:30 is significantly quieter (p = 5.2 × 10⁻⁶).</a:t>
            </a:r>
            <a:endParaRPr lang="en-US" sz="1400" dirty="0"/>
          </a:p>
          <a:p>
            <a:pPr marL="342900" indent="-342900">
              <a:spcAft>
                <a:spcPts val="800"/>
              </a:spcAft>
              <a:buSzPct val="100000"/>
              <a:buChar char="•"/>
            </a:pPr>
            <a:r>
              <a:rPr lang="en-US" sz="1400" dirty="0">
                <a:solidFill>
                  <a:schemeClr val="tx1"/>
                </a:solidFill>
              </a:rPr>
              <a:t>39 per slot keeps every slot below 20% risk.</a:t>
            </a:r>
            <a:endParaRPr lang="en-US" sz="1400" dirty="0"/>
          </a:p>
          <a:p>
            <a:pPr marL="342900" indent="-342900">
              <a:spcAft>
                <a:spcPts val="800"/>
              </a:spcAft>
              <a:buSzPct val="100000"/>
              <a:buChar char="•"/>
            </a:pPr>
            <a:r>
              <a:rPr lang="en-US" sz="1400" dirty="0">
                <a:solidFill>
                  <a:schemeClr val="tx1"/>
                </a:solidFill>
              </a:rPr>
              <a:t>The peak time is predictable (40% hits vs 13% chance) and early counts sharpen it.</a:t>
            </a:r>
            <a:endParaRPr lang="en-US" sz="1400" dirty="0"/>
          </a:p>
        </p:txBody>
      </p:sp>
      <p:sp>
        <p:nvSpPr>
          <p:cNvPr id="5" name="future work"/>
          <p:cNvSpPr txBox="1"/>
          <p:nvPr/>
        </p:nvSpPr>
        <p:spPr>
          <a:xfrm>
            <a:off x="5486400" y="1234440"/>
            <a:ext cx="3200400" cy="3291840"/>
          </a:xfrm>
          <a:prstGeom prst="rect">
            <a:avLst/>
          </a:prstGeom>
          <a:noFill/>
          <a:ln/>
        </p:spPr>
        <p:txBody>
          <a:bodyPr wrap="square" lIns="0" tIns="0" rIns="0" bIns="0" rtlCol="0" anchor="t"/>
          <a:lstStyle/>
          <a:p>
            <a:pPr indent="0" marL="0">
              <a:buNone/>
            </a:pPr>
            <a:r>
              <a:rPr lang="en-US" sz="1400" b="1" dirty="0">
                <a:solidFill>
                  <a:schemeClr val="accent3"/>
                </a:solidFill>
              </a:rPr>
              <a:t>Limitations</a:t>
            </a:r>
            <a:endParaRPr lang="en-US" sz="1400" dirty="0"/>
          </a:p>
          <a:p>
            <a:pPr indent="0" marL="0">
              <a:spcAft>
                <a:spcPts val="1200"/>
              </a:spcAft>
              <a:buNone/>
            </a:pPr>
            <a:r>
              <a:rPr lang="en-US" sz="1400" dirty="0">
                <a:solidFill>
                  <a:schemeClr val="tx1"/>
                </a:solidFill>
              </a:rPr>
              <a:t>Synthetic data for now; arrival risk, not waiting time; group arrivals ignored.</a:t>
            </a:r>
            <a:endParaRPr lang="en-US" sz="1400" dirty="0"/>
          </a:p>
          <a:p>
            <a:pPr indent="0" marL="0">
              <a:buNone/>
            </a:pPr>
            <a:r>
              <a:rPr lang="en-US" sz="1400" b="1" dirty="0">
                <a:solidFill>
                  <a:schemeClr val="accent1"/>
                </a:solidFill>
              </a:rPr>
              <a:t>Next steps</a:t>
            </a:r>
            <a:endParaRPr lang="en-US" sz="1400" dirty="0"/>
          </a:p>
          <a:p>
            <a:pPr marL="342900" indent="-342900">
              <a:buSzPct val="100000"/>
              <a:buChar char="•"/>
            </a:pPr>
            <a:r>
              <a:rPr lang="en-US" sz="1400" dirty="0">
                <a:solidFill>
                  <a:schemeClr val="tx1"/>
                </a:solidFill>
              </a:rPr>
              <a:t>Replace with field counts</a:t>
            </a:r>
            <a:endParaRPr lang="en-US" sz="1400" dirty="0"/>
          </a:p>
          <a:p>
            <a:pPr marL="342900" indent="-342900">
              <a:buSzPct val="100000"/>
              <a:buChar char="•"/>
            </a:pPr>
            <a:r>
              <a:rPr lang="en-US" sz="1400" dirty="0">
                <a:solidFill>
                  <a:schemeClr val="tx1"/>
                </a:solidFill>
              </a:rPr>
              <a:t>Add service times for an M/M/c queue</a:t>
            </a:r>
            <a:endParaRPr lang="en-US" sz="1400" dirty="0"/>
          </a:p>
          <a:p>
            <a:pPr marL="342900" indent="-342900">
              <a:buSzPct val="100000"/>
              <a:buChar char="•"/>
            </a:pPr>
            <a:r>
              <a:rPr lang="en-US" sz="1400" dirty="0">
                <a:solidFill>
                  <a:schemeClr val="tx1"/>
                </a:solidFill>
              </a:rPr>
              <a:t>Automatic same-day update from turnstile or camera counts</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Key references</a:t>
            </a:r>
            <a:endParaRPr lang="en-US" sz="2800" dirty="0"/>
          </a:p>
        </p:txBody>
      </p:sp>
      <p:sp>
        <p:nvSpPr>
          <p:cNvPr id="3" name="references"/>
          <p:cNvSpPr txBox="1"/>
          <p:nvPr/>
        </p:nvSpPr>
        <p:spPr>
          <a:xfrm>
            <a:off x="457200" y="1097280"/>
            <a:ext cx="8229600" cy="352044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150" dirty="0">
                <a:solidFill>
                  <a:schemeClr val="tx1"/>
                </a:solidFill>
              </a:rPr>
              <a:t>T.-Q. Tang, B.-T. Zhang, J. Zhang, T. Wang, "Statistical analysis and modeling of pedestrian flow in university canteen during peak period," Physica A, vol. 521, pp. 29–40, 2019.</a:t>
            </a:r>
            <a:endParaRPr lang="en-US" sz="1150" dirty="0"/>
          </a:p>
          <a:p>
            <a:pPr marL="342900" indent="-342900">
              <a:spcAft>
                <a:spcPts val="600"/>
              </a:spcAft>
              <a:buSzPct val="100000"/>
              <a:buFont typeface="+mj-lt"/>
              <a:buAutoNum type="arabicPeriod" startAt="1"/>
            </a:pPr>
            <a:r>
              <a:rPr lang="en-US" sz="1150" dirty="0">
                <a:solidFill>
                  <a:schemeClr val="tx1"/>
                </a:solidFill>
              </a:rPr>
              <a:t>S.-H. Kim and W. Whitt, "Are call center and hospital arrivals well modeled by nonhomogeneous Poisson processes?" MSOM, vol. 16, no. 3, pp. 464–480, 2014.</a:t>
            </a:r>
            <a:endParaRPr lang="en-US" sz="1150" dirty="0"/>
          </a:p>
          <a:p>
            <a:pPr marL="342900" indent="-342900">
              <a:spcAft>
                <a:spcPts val="600"/>
              </a:spcAft>
              <a:buSzPct val="100000"/>
              <a:buFont typeface="+mj-lt"/>
              <a:buAutoNum type="arabicPeriod" startAt="1"/>
            </a:pPr>
            <a:r>
              <a:rPr lang="en-US" sz="1150" dirty="0">
                <a:solidFill>
                  <a:schemeClr val="tx1"/>
                </a:solidFill>
              </a:rPr>
              <a:t>L. Brown et al., "Statistical analysis of a telephone call center: a queueing-science perspective," JASA, vol. 100, pp. 36–50, 2005.</a:t>
            </a:r>
            <a:endParaRPr lang="en-US" sz="1150" dirty="0"/>
          </a:p>
          <a:p>
            <a:pPr marL="342900" indent="-342900">
              <a:spcAft>
                <a:spcPts val="600"/>
              </a:spcAft>
              <a:buSzPct val="100000"/>
              <a:buFont typeface="+mj-lt"/>
              <a:buAutoNum type="arabicPeriod" startAt="1"/>
            </a:pPr>
            <a:r>
              <a:rPr lang="en-US" sz="1150" dirty="0">
                <a:solidFill>
                  <a:schemeClr val="tx1"/>
                </a:solidFill>
              </a:rPr>
              <a:t>J. Weinberg, L. D. Brown, J. R. Stroud, "Bayesian forecasting of an inhomogeneous Poisson process with applications to call center data," JASA, vol. 102, pp. 1185–1199, 2007.</a:t>
            </a:r>
            <a:endParaRPr lang="en-US" sz="1150" dirty="0"/>
          </a:p>
          <a:p>
            <a:pPr marL="342900" indent="-342900">
              <a:spcAft>
                <a:spcPts val="600"/>
              </a:spcAft>
              <a:buSzPct val="100000"/>
              <a:buFont typeface="+mj-lt"/>
              <a:buAutoNum type="arabicPeriod" startAt="1"/>
            </a:pPr>
            <a:r>
              <a:rPr lang="en-US" sz="1150" dirty="0">
                <a:solidFill>
                  <a:schemeClr val="tx1"/>
                </a:solidFill>
              </a:rPr>
              <a:t>R. Ibrahim, H. Ye, P. L'Ecuyer, H. Shen, "Modeling and forecasting call center arrivals: a literature survey and a case study," IJF, vol. 32, pp. 865–874, 2016.</a:t>
            </a:r>
            <a:endParaRPr lang="en-US" sz="1150" dirty="0"/>
          </a:p>
          <a:p>
            <a:pPr marL="342900" indent="-342900">
              <a:spcAft>
                <a:spcPts val="600"/>
              </a:spcAft>
              <a:buSzPct val="100000"/>
              <a:buFont typeface="+mj-lt"/>
              <a:buAutoNum type="arabicPeriod" startAt="1"/>
            </a:pPr>
            <a:r>
              <a:rPr lang="en-US" sz="1150" dirty="0">
                <a:solidFill>
                  <a:schemeClr val="tx1"/>
                </a:solidFill>
              </a:rPr>
              <a:t>S. Jiao et al., "Simulation and optimization of university canteen service ... based on queuing theory," ITM Web of Conf., vol. 47, 02052, 2022.</a:t>
            </a:r>
            <a:endParaRPr lang="en-US" sz="1150" dirty="0"/>
          </a:p>
          <a:p>
            <a:pPr marL="342900" indent="-342900">
              <a:spcAft>
                <a:spcPts val="600"/>
              </a:spcAft>
              <a:buSzPct val="100000"/>
              <a:buFont typeface="+mj-lt"/>
              <a:buAutoNum type="arabicPeriod" startAt="1"/>
            </a:pPr>
            <a:r>
              <a:rPr lang="en-US" sz="1150" dirty="0">
                <a:solidFill>
                  <a:schemeClr val="tx1"/>
                </a:solidFill>
              </a:rPr>
              <a:t>W. G. Cochran, "Some methods for strengthening the common χ² tests," Biometrics, vol. 10, pp. 417–451, 1954.</a:t>
            </a:r>
            <a:endParaRPr lang="en-US" sz="1150" dirty="0"/>
          </a:p>
          <a:p>
            <a:pPr marL="342900" indent="-342900">
              <a:spcAft>
                <a:spcPts val="600"/>
              </a:spcAft>
              <a:buSzPct val="100000"/>
              <a:buFont typeface="+mj-lt"/>
              <a:buAutoNum type="arabicPeriod" startAt="1"/>
            </a:pPr>
            <a:r>
              <a:rPr lang="en-US" sz="1150" dirty="0">
                <a:solidFill>
                  <a:schemeClr val="tx1"/>
                </a:solidFill>
              </a:rPr>
              <a:t>F. Garwood, "Fiducial limits for the Poisson distribution," Biometrika, vol. 28, pp. 437–442, 1936.</a:t>
            </a:r>
            <a:endParaRPr lang="en-US" sz="1150" dirty="0"/>
          </a:p>
          <a:p>
            <a:pPr marL="342900" indent="-342900">
              <a:spcAft>
                <a:spcPts val="600"/>
              </a:spcAft>
              <a:buSzPct val="100000"/>
              <a:buFont typeface="+mj-lt"/>
              <a:buAutoNum type="arabicPeriod" startAt="1"/>
            </a:pPr>
            <a:r>
              <a:rPr lang="en-US" sz="1150" dirty="0">
                <a:solidFill>
                  <a:schemeClr val="tx1"/>
                </a:solidFill>
              </a:rPr>
              <a:t>R. A. Johnson, Miller &amp; Freund's Probability and Statistics for Engineers, 9th ed., Pearson, 2018.</a:t>
            </a:r>
            <a:endParaRPr lang="en-US" sz="11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hanks"/>
          <p:cNvSpPr txBox="1"/>
          <p:nvPr/>
        </p:nvSpPr>
        <p:spPr>
          <a:xfrm>
            <a:off x="548640" y="1371600"/>
            <a:ext cx="8046720" cy="9144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questions"/>
          <p:cNvSpPr txBox="1"/>
          <p:nvPr/>
        </p:nvSpPr>
        <p:spPr>
          <a:xfrm>
            <a:off x="548640" y="2286000"/>
            <a:ext cx="8046720" cy="457200"/>
          </a:xfrm>
          <a:prstGeom prst="rect">
            <a:avLst/>
          </a:prstGeom>
          <a:noFill/>
          <a:ln/>
        </p:spPr>
        <p:txBody>
          <a:bodyPr wrap="square" lIns="0" tIns="0" rIns="0" bIns="0" rtlCol="0" anchor="t"/>
          <a:lstStyle/>
          <a:p>
            <a:pPr indent="0" marL="0">
              <a:buNone/>
            </a:pPr>
            <a:r>
              <a:rPr lang="en-US" sz="2000" dirty="0">
                <a:solidFill>
                  <a:srgbClr val="9FD4D6"/>
                </a:solidFill>
              </a:rPr>
              <a:t>Questions and discussion</a:t>
            </a:r>
            <a:endParaRPr lang="en-US" sz="2000" dirty="0"/>
          </a:p>
        </p:txBody>
      </p:sp>
      <p:sp>
        <p:nvSpPr>
          <p:cNvPr id="4" name="team line"/>
          <p:cNvSpPr txBox="1"/>
          <p:nvPr/>
        </p:nvSpPr>
        <p:spPr>
          <a:xfrm>
            <a:off x="548640" y="3291840"/>
            <a:ext cx="8046720" cy="365760"/>
          </a:xfrm>
          <a:prstGeom prst="rect">
            <a:avLst/>
          </a:prstGeom>
          <a:noFill/>
          <a:ln/>
        </p:spPr>
        <p:txBody>
          <a:bodyPr wrap="square" lIns="0" tIns="0" rIns="0" bIns="0" rtlCol="0" anchor="t"/>
          <a:lstStyle/>
          <a:p>
            <a:pPr indent="0" marL="0">
              <a:buNone/>
            </a:pPr>
            <a:r>
              <a:rPr lang="en-US" sz="1300" dirty="0">
                <a:solidFill>
                  <a:srgbClr val="C9D3DE"/>
                </a:solidFill>
              </a:rPr>
              <a:t>Faraz Akhtar Khan (26MCA0197, team in-charge) · Mayur Krishna (26MCA0191) · Malhar Bhosale (26MCA0199)</a:t>
            </a:r>
            <a:endParaRPr lang="en-US" sz="1300" dirty="0"/>
          </a:p>
        </p:txBody>
      </p:sp>
      <p:sp>
        <p:nvSpPr>
          <p:cNvPr id="5" name="faculty line"/>
          <p:cNvSpPr txBox="1"/>
          <p:nvPr/>
        </p:nvSpPr>
        <p:spPr>
          <a:xfrm>
            <a:off x="548640" y="3657600"/>
            <a:ext cx="8046720" cy="365760"/>
          </a:xfrm>
          <a:prstGeom prst="rect">
            <a:avLst/>
          </a:prstGeom>
          <a:noFill/>
          <a:ln/>
        </p:spPr>
        <p:txBody>
          <a:bodyPr wrap="square" lIns="0" tIns="0" rIns="0" bIns="0" rtlCol="0" anchor="t"/>
          <a:lstStyle/>
          <a:p>
            <a:pPr indent="0" marL="0">
              <a:buNone/>
            </a:pPr>
            <a:r>
              <a:rPr lang="en-US" sz="1300" dirty="0">
                <a:solidFill>
                  <a:srgbClr val="C9D3DE"/>
                </a:solidFill>
              </a:rPr>
              <a:t>Faculty: Dr. Manimaran A · PAMAT501 Probability and Statistics</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FD4D6"/>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CanteenFlow">
  <a:themeElements>
    <a:clrScheme name="CanteenFlow">
      <a:dk1>
        <a:srgbClr val="1B2A4A"/>
      </a:dk1>
      <a:lt1>
        <a:srgbClr val="FFFFFF"/>
      </a:lt1>
      <a:dk2>
        <a:srgbClr val="0F1A30"/>
      </a:dk2>
      <a:lt2>
        <a:srgbClr val="EEF3F6"/>
      </a:lt2>
      <a:accent1>
        <a:srgbClr val="00868B"/>
      </a:accent1>
      <a:accent2>
        <a:srgbClr val="9FD4D6"/>
      </a:accent2>
      <a:accent3>
        <a:srgbClr val="C0392B"/>
      </a:accent3>
      <a:accent4>
        <a:srgbClr val="E07B2E"/>
      </a:accent4>
      <a:accent5>
        <a:srgbClr val="2E8B57"/>
      </a:accent5>
      <a:accent6>
        <a:srgbClr val="8A94A3"/>
      </a:accent6>
      <a:hlink>
        <a:srgbClr val="00868B"/>
      </a:hlink>
      <a:folHlink>
        <a:srgbClr val="1B2A4A"/>
      </a:folHlink>
    </a:clrScheme>
    <a:fontScheme name="Canteen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Estimation of Canteen Arrival Overload Probability Using Poisson Distribution</dc:title>
  <dc:subject>PAMAT501 Probability and Statistics: course-based project</dc:subject>
  <dc:creator>Faraz Akhtar Khan, Mayur Krishna, Malhar Bhosale</dc:creator>
  <cp:lastModifiedBy>Faraz Akhtar Khan, Mayur Krishna, Malhar Bhosale</cp:lastModifiedBy>
  <cp:revision>1</cp:revision>
  <dcterms:created xsi:type="dcterms:W3CDTF">2026-10-26T13:10:22Z</dcterms:created>
  <dcterms:modified xsi:type="dcterms:W3CDTF">2026-10-26T13:10:22Z</dcterms:modified>
</cp:coreProperties>
</file>